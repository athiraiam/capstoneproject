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0"/>
            <a:ext cx="12188952" cy="54864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🏦  Internal Bank Employee Assistant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9202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0" i="1">
                <a:solidFill>
                  <a:srgbClr val="CCE5FF"/>
                </a:solidFill>
              </a:rPr>
              <a:t>Multi-Agent AI System — Capstone Project v2.0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9260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CE5FF"/>
                </a:solidFill>
              </a:rPr>
              <a:t>NexaBank Internal Division  |  June 14,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576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C107"/>
                </a:solidFill>
              </a:rPr>
              <a:t>Python  •  Streamlit  •  7 Agents  •  3 Skills  •  6 Hooks  •  49 Tests  •  100% Pass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Business Problem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280160"/>
            <a:ext cx="11247120" cy="704088"/>
          </a:xfrm>
          <a:prstGeom prst="rect">
            <a:avLst/>
          </a:prstGeom>
          <a:solidFill>
            <a:srgbClr val="CC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89888"/>
            <a:ext cx="109728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3366"/>
                </a:solidFill>
              </a:rPr>
              <a:t>⚠  Bank employees reference 5+ internal policies daily — manual search takes 5-10 minutes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2121408"/>
            <a:ext cx="11247120" cy="704088"/>
          </a:xfrm>
          <a:prstGeom prst="rect">
            <a:avLst/>
          </a:prstGeom>
          <a:solidFill>
            <a:srgbClr val="CC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231136"/>
            <a:ext cx="109728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3366"/>
                </a:solidFill>
              </a:rPr>
              <a:t>⚠  No single system classifies, searches, summarizes, escalates, and audits policy queries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962656"/>
            <a:ext cx="11247120" cy="704088"/>
          </a:xfrm>
          <a:prstGeom prst="rect">
            <a:avLst/>
          </a:prstGeom>
          <a:solidFill>
            <a:srgbClr val="CC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072384"/>
            <a:ext cx="109728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3366"/>
                </a:solidFill>
              </a:rPr>
              <a:t>⚠  Inconsistent answers lead to compliance risks and customer service failures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3803904"/>
            <a:ext cx="11247120" cy="704088"/>
          </a:xfrm>
          <a:prstGeom prst="rect">
            <a:avLst/>
          </a:prstGeom>
          <a:solidFill>
            <a:srgbClr val="CC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3913632"/>
            <a:ext cx="109728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3366"/>
                </a:solidFill>
              </a:rPr>
              <a:t>⚠  New employees lack guidance — policy documents are 50+ lines each and hard to navigate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4645152"/>
            <a:ext cx="11247120" cy="704088"/>
          </a:xfrm>
          <a:prstGeom prst="rect">
            <a:avLst/>
          </a:prstGeom>
          <a:solidFill>
            <a:srgbClr val="CC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4754880"/>
            <a:ext cx="109728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3366"/>
                </a:solidFill>
              </a:rPr>
              <a:t>⚠  Unresolved queries go untracked — no audit trail for compliance review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Solution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03366"/>
                </a:solidFill>
              </a:rPr>
              <a:t>A fully orchestrated multi-agent AI system — offline, traceable, self-healing.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828800"/>
            <a:ext cx="3749039" cy="13716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920240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C107"/>
                </a:solidFill>
              </a:rPr>
              <a:t>🤖 OrchestratorAgent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423160"/>
            <a:ext cx="3566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Coordinates all 7 subagents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0" y="1828800"/>
            <a:ext cx="3749039" cy="13716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97679" y="1920240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C107"/>
                </a:solidFill>
              </a:rPr>
              <a:t>🔍 Intent Classifier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79" y="2423160"/>
            <a:ext cx="3566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Routes to the right agent first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38160" y="1828800"/>
            <a:ext cx="3749039" cy="13716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920240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C107"/>
                </a:solidFill>
              </a:rPr>
              <a:t>📚 Policy Search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423160"/>
            <a:ext cx="3566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Keyword scoring on 5 policies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3383280"/>
            <a:ext cx="3749039" cy="13716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3474720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C107"/>
                </a:solidFill>
              </a:rPr>
              <a:t>📝 Multi-Policy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977640"/>
            <a:ext cx="3566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Merges 2 policy domain answers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06240" y="3383280"/>
            <a:ext cx="3749039" cy="13716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7679" y="3474720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C107"/>
                </a:solidFill>
              </a:rPr>
              <a:t>📋 Summary Agent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79" y="3977640"/>
            <a:ext cx="3566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5-bullet summaries on demand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8160" y="3383280"/>
            <a:ext cx="3749039" cy="13716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3474720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C107"/>
                </a:solidFill>
              </a:rPr>
              <a:t>📧 Escalation 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3977640"/>
            <a:ext cx="3566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Auto-drafts escalation emails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4937760"/>
            <a:ext cx="3749039" cy="13716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5029200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C107"/>
                </a:solidFill>
              </a:rPr>
              <a:t>🛡️ Audit Logger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5532120"/>
            <a:ext cx="3566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Logs every query silently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06240" y="4937760"/>
            <a:ext cx="3749039" cy="13716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97679" y="5029200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C107"/>
                </a:solidFill>
              </a:rPr>
              <a:t>⚠️ Self-Healing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79" y="5532120"/>
            <a:ext cx="3566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FallbackAgent auto-recovers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38160" y="4937760"/>
            <a:ext cx="3749039" cy="13716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0" y="5029200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C107"/>
                </a:solidFill>
              </a:rPr>
              <a:t>🔗 6 Lifecycle Hooks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0" y="5532120"/>
            <a:ext cx="3566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Pre/post query, session, risk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OrchestratorAgent — 9-Step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188720"/>
            <a:ext cx="502920" cy="521207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271016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188720"/>
            <a:ext cx="3657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3366"/>
                </a:solidFill>
              </a:rPr>
              <a:t>pre_query_hook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499616"/>
            <a:ext cx="109728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323232"/>
                </a:solidFill>
              </a:rPr>
              <a:t>Validate &amp; sanitize input — reject empty/&lt;3-char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801368"/>
            <a:ext cx="502920" cy="521207"/>
          </a:xfrm>
          <a:prstGeom prst="rect">
            <a:avLst/>
          </a:prstGeom>
          <a:solidFill>
            <a:srgbClr val="008C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883664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1801368"/>
            <a:ext cx="3657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3366"/>
                </a:solidFill>
              </a:rPr>
              <a:t>QueryClassifierAgent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112264"/>
            <a:ext cx="109728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323232"/>
                </a:solidFill>
              </a:rPr>
              <a:t>Detect intent: policy_query/summary/escalation/out_of_scope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414016"/>
            <a:ext cx="502920" cy="521207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4320" y="2496312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414016"/>
            <a:ext cx="3657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3366"/>
                </a:solidFill>
              </a:rPr>
              <a:t>OrchestratorAgent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724912"/>
            <a:ext cx="109728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323232"/>
                </a:solidFill>
              </a:rPr>
              <a:t>Routing decision (see routing table)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026664"/>
            <a:ext cx="502920" cy="521207"/>
          </a:xfrm>
          <a:prstGeom prst="rect">
            <a:avLst/>
          </a:prstGeom>
          <a:solidFill>
            <a:srgbClr val="640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3108960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026664"/>
            <a:ext cx="3657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3366"/>
                </a:solidFill>
              </a:rPr>
              <a:t>SubAgent executes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337560"/>
            <a:ext cx="109728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323232"/>
                </a:solidFill>
              </a:rPr>
              <a:t>Answer produced by chosen agent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3639312"/>
            <a:ext cx="502920" cy="521207"/>
          </a:xfrm>
          <a:prstGeom prst="rect">
            <a:avLst/>
          </a:prstGeom>
          <a:solidFill>
            <a:srgbClr val="007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" y="3721608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3639312"/>
            <a:ext cx="3657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3366"/>
                </a:solidFill>
              </a:rPr>
              <a:t>AuditLoggerAgent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3950208"/>
            <a:ext cx="109728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323232"/>
                </a:solidFill>
              </a:rPr>
              <a:t>Logs every query silently — runs after all queries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4251960"/>
            <a:ext cx="502920" cy="521207"/>
          </a:xfrm>
          <a:prstGeom prst="rect">
            <a:avLst/>
          </a:prstGeom>
          <a:solidFill>
            <a:srgbClr val="B4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4320" y="4334256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251960"/>
            <a:ext cx="3657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3366"/>
                </a:solidFill>
              </a:rPr>
              <a:t>compliance_alert_hook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4562856"/>
            <a:ext cx="109728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323232"/>
                </a:solidFill>
              </a:rPr>
              <a:t>Fires IF risk keywords detected in question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864608"/>
            <a:ext cx="502920" cy="521207"/>
          </a:xfrm>
          <a:prstGeom prst="rect">
            <a:avLst/>
          </a:prstGeom>
          <a:solidFill>
            <a:srgbClr val="C8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4320" y="4946904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4864608"/>
            <a:ext cx="3657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3366"/>
                </a:solidFill>
              </a:rPr>
              <a:t>escalation_hook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175504"/>
            <a:ext cx="109728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323232"/>
                </a:solidFill>
              </a:rPr>
              <a:t>Fires ONLY IF found=False AND escalated=False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5477256"/>
            <a:ext cx="502920" cy="521207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4320" y="5559552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5477256"/>
            <a:ext cx="3657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3366"/>
                </a:solidFill>
              </a:rPr>
              <a:t>post_answer_hook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5788152"/>
            <a:ext cx="109728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323232"/>
                </a:solidFill>
              </a:rPr>
              <a:t>Logs response time and outcome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6089904"/>
            <a:ext cx="502920" cy="521207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4320" y="6172200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" y="6089904"/>
            <a:ext cx="3657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3366"/>
                </a:solidFill>
              </a:rPr>
              <a:t>Result → UI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6400800"/>
            <a:ext cx="109728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323232"/>
                </a:solidFill>
              </a:rPr>
              <a:t>Answer + badge + agent chip displayed in chat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7 Subagents — Roles &amp; Responsibilities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280160"/>
            <a:ext cx="2834640" cy="2011680"/>
          </a:xfrm>
          <a:prstGeom prst="rect">
            <a:avLst/>
          </a:prstGeom>
          <a:solidFill>
            <a:srgbClr val="008C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C107"/>
                </a:solidFill>
              </a:rPr>
              <a:t>SubAgent 1
QueryClassifierAgent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96596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Detects intent first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468880"/>
            <a:ext cx="2651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CE5FF"/>
                </a:solidFill>
              </a:rPr>
              <a:t>policy_query / summary / escalation / out_of_scope</a:t>
            </a:r>
          </a:p>
        </p:txBody>
      </p:sp>
      <p:sp>
        <p:nvSpPr>
          <p:cNvPr id="8" name="Rectangle 7"/>
          <p:cNvSpPr/>
          <p:nvPr/>
        </p:nvSpPr>
        <p:spPr>
          <a:xfrm>
            <a:off x="3218688" y="1280160"/>
            <a:ext cx="2834640" cy="20116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10128" y="1371600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C107"/>
                </a:solidFill>
              </a:rPr>
              <a:t>SubAgent 2
PolicySearchAgent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10128" y="196596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Single-policy keyword 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2468880"/>
            <a:ext cx="2651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CE5FF"/>
                </a:solidFill>
              </a:rPr>
              <a:t>Best match from 5 policies via KEYWORD_MAP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63056" y="1280160"/>
            <a:ext cx="2834640" cy="2011680"/>
          </a:xfrm>
          <a:prstGeom prst="rect">
            <a:avLst/>
          </a:prstGeom>
          <a:solidFill>
            <a:srgbClr val="640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54496" y="1371600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C107"/>
                </a:solidFill>
              </a:rPr>
              <a:t>SubAgent 3
MultiPolicyAgent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54496" y="196596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Spans 2 policy domains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54496" y="2468880"/>
            <a:ext cx="2651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CE5FF"/>
                </a:solidFill>
              </a:rPr>
              <a:t>Merges top-2 snippets when both scores ≥ threshold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07424" y="1280160"/>
            <a:ext cx="2834640" cy="2011680"/>
          </a:xfrm>
          <a:prstGeom prst="rect">
            <a:avLst/>
          </a:prstGeom>
          <a:solidFill>
            <a:srgbClr val="C8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98864" y="1371600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C107"/>
                </a:solidFill>
              </a:rPr>
              <a:t>SubAgent 4
SummaryAgent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98864" y="196596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On-demand policy overview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98864" y="2468880"/>
            <a:ext cx="2651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CE5FF"/>
                </a:solidFill>
              </a:rPr>
              <a:t>5-bullet summary; POLICY_NAME_HINTS + fallback search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3566160"/>
            <a:ext cx="2834640" cy="2011680"/>
          </a:xfrm>
          <a:prstGeom prst="rect">
            <a:avLst/>
          </a:prstGeom>
          <a:solidFill>
            <a:srgbClr val="B4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3657600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C107"/>
                </a:solidFill>
              </a:rPr>
              <a:t>SubAgent 5
EscalationAgent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425196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Routes to correct team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4754880"/>
            <a:ext cx="2651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CE5FF"/>
                </a:solidFill>
              </a:rPr>
              <a:t>Contact lookup + auto-draft escalation email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18688" y="3566160"/>
            <a:ext cx="2834640" cy="2011680"/>
          </a:xfrm>
          <a:prstGeom prst="rect">
            <a:avLst/>
          </a:prstGeom>
          <a:solidFill>
            <a:srgbClr val="783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10128" y="3657600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C107"/>
                </a:solidFill>
              </a:rPr>
              <a:t>SubAgent 6
FallbackAgent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10128" y="425196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Self-healing on no match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10128" y="4754880"/>
            <a:ext cx="2651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CE5FF"/>
                </a:solidFill>
              </a:rPr>
              <a:t>Partial recovery via cross_reference at low threshold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63056" y="3566160"/>
            <a:ext cx="2834640" cy="2011680"/>
          </a:xfrm>
          <a:prstGeom prst="rect">
            <a:avLst/>
          </a:prstGeom>
          <a:solidFill>
            <a:srgbClr val="007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54496" y="3657600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C107"/>
                </a:solidFill>
              </a:rPr>
              <a:t>SubAgent 7
AuditLoggerAgent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54496" y="425196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Background audit logging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54496" y="4754880"/>
            <a:ext cx="2651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CE5FF"/>
                </a:solidFill>
              </a:rPr>
              <a:t>Logs every query; detects 14 compliance risk keywords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Skills — Reusable Functions Across Agents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234440"/>
            <a:ext cx="3749039" cy="5120640"/>
          </a:xfrm>
          <a:prstGeom prst="rect">
            <a:avLst/>
          </a:prstGeom>
          <a:solidFill>
            <a:srgbClr val="008C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325880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C107"/>
                </a:solidFill>
              </a:rPr>
              <a:t>search_skill.py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79" y="1920240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E5FF"/>
                </a:solidFill>
              </a:rPr>
              <a:t>search_policy()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79" y="2212848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FFFFFF"/>
                </a:solidFill>
              </a:rPr>
              <a:t>Keyword scores all 5 policies via KEYWORD_MAP; returns best snippet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79" y="2670048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E5FF"/>
                </a:solidFill>
              </a:rPr>
              <a:t>extract_keywords()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79" y="2962656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FFFFFF"/>
                </a:solidFill>
              </a:rPr>
              <a:t>Pulls meaningful words from question for classification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79" y="3419856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E5FF"/>
                </a:solidFill>
              </a:rPr>
              <a:t>cross_reference()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79" y="3712463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FFFFFF"/>
                </a:solidFill>
              </a:rPr>
              <a:t>Scores ALL policies — drives multi-policy detection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5074920"/>
            <a:ext cx="3566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Used by: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5330952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CE5FF"/>
                </a:solidFill>
              </a:rPr>
              <a:t>PolicySearchAgent  ·  MultiPolicyAgent  ·  SummaryAgent  ·  FallbackAgent  ·  EscalationAgent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06240" y="1234440"/>
            <a:ext cx="3749039" cy="5120640"/>
          </a:xfrm>
          <a:prstGeom prst="rect">
            <a:avLst/>
          </a:prstGeom>
          <a:solidFill>
            <a:srgbClr val="640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79" y="1325880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C107"/>
                </a:solidFill>
              </a:rPr>
              <a:t>format_skill.py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400" y="1920240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E5FF"/>
                </a:solidFill>
              </a:rPr>
              <a:t>POLICY_DISPLAY_NAMES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2212848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FFFFFF"/>
                </a:solidFill>
              </a:rPr>
              <a:t>Canonical name map — all agents import from here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2670048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E5FF"/>
                </a:solidFill>
              </a:rPr>
              <a:t>format_answer()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2962656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FFFFFF"/>
                </a:solidFill>
              </a:rPr>
              <a:t>Cleans raw policy text into readable markdown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43400" y="3419856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E5FF"/>
                </a:solidFill>
              </a:rPr>
              <a:t>summarize_policy()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3400" y="3712463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FFFFFF"/>
                </a:solidFill>
              </a:rPr>
              <a:t>5-bullet summary of any policy document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43400" y="4169664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E5FF"/>
                </a:solidFill>
              </a:rPr>
              <a:t>generate_escalation_email()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3400" y="4462272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FFFFFF"/>
                </a:solidFill>
              </a:rPr>
              <a:t>Drafts pre-filled escalation email body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5074920"/>
            <a:ext cx="3566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Used by: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79" y="5330952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CE5FF"/>
                </a:solidFill>
              </a:rPr>
              <a:t>PolicySearchAgent  ·  SummaryAgent  ·  EscalationAgent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38160" y="1234440"/>
            <a:ext cx="3749039" cy="5120640"/>
          </a:xfrm>
          <a:prstGeom prst="rect">
            <a:avLst/>
          </a:prstGeom>
          <a:solidFill>
            <a:srgbClr val="007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0" y="1325880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C107"/>
                </a:solidFill>
              </a:rPr>
              <a:t>audit_skill.py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20" y="1920240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E5FF"/>
                </a:solidFill>
              </a:rPr>
              <a:t>log_query()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212848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FFFFFF"/>
                </a:solidFill>
              </a:rPr>
              <a:t>Appends to query_audit.log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2670048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E5FF"/>
                </a:solidFill>
              </a:rPr>
              <a:t>log_unresolved()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20" y="2962656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FFFFFF"/>
                </a:solidFill>
              </a:rPr>
              <a:t>Appends to unresolved_queries.log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20" y="3419856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E5FF"/>
                </a:solidFill>
              </a:rPr>
              <a:t>log_session_event()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712463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FFFFFF"/>
                </a:solidFill>
              </a:rPr>
              <a:t>Logs all session lifecycle events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20" y="4169664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E5FF"/>
                </a:solidFill>
              </a:rPr>
              <a:t>detect_compliance_risk()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4462272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FFFFFF"/>
                </a:solidFill>
              </a:rPr>
              <a:t>Returns True if risk keywords found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5320" y="4919472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E5FF"/>
                </a:solidFill>
              </a:rPr>
              <a:t>read_audit_log()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75320" y="5212079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FFFFFF"/>
                </a:solidFill>
              </a:rPr>
              <a:t>Reads last N lines — used by app.py audit panel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0" y="5074920"/>
            <a:ext cx="3566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Used by: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0" y="5330952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CE5FF"/>
                </a:solidFill>
              </a:rPr>
              <a:t>AuditLoggerAgent  ·  All 6 Hooks  ·  app.py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Hooks — 6 Lifecycle Callbacks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9728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03366"/>
                </a:solidFill>
              </a:rPr>
              <a:t>Hooks fire automatically at specific pipeline points. They handle cross-cutting concerns without modifying agent logic.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719072"/>
            <a:ext cx="11612880" cy="658368"/>
          </a:xfrm>
          <a:prstGeom prst="rect">
            <a:avLst/>
          </a:prstGeom>
          <a:solidFill>
            <a:srgbClr val="CC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719072"/>
            <a:ext cx="164592" cy="658368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792224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3366"/>
                </a:solidFill>
              </a:rPr>
              <a:t>pre_query_hook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2084831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323232"/>
                </a:solidFill>
              </a:rPr>
              <a:t>→ BEFORE any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1874519"/>
            <a:ext cx="8686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23232"/>
                </a:solidFill>
              </a:rPr>
              <a:t>Validates input; rejects empty/&lt;3-char; logs incoming query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496312"/>
            <a:ext cx="11612880" cy="658368"/>
          </a:xfrm>
          <a:prstGeom prst="rect">
            <a:avLst/>
          </a:prstGeom>
          <a:solidFill>
            <a:srgbClr val="DCE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2496312"/>
            <a:ext cx="164592" cy="658368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2569464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3366"/>
                </a:solidFill>
              </a:rPr>
              <a:t>post_answer_hook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2862072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323232"/>
                </a:solidFill>
              </a:rPr>
              <a:t>→ AFTER full pipeline completes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2651760"/>
            <a:ext cx="8686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23232"/>
                </a:solidFill>
              </a:rPr>
              <a:t>Logs matched policy, response time, ANSWERED/FALLBACK status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3273552"/>
            <a:ext cx="11612880" cy="658368"/>
          </a:xfrm>
          <a:prstGeom prst="rect">
            <a:avLst/>
          </a:prstGeom>
          <a:solidFill>
            <a:srgbClr val="CC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3273552"/>
            <a:ext cx="164592" cy="658368"/>
          </a:xfrm>
          <a:prstGeom prst="rect">
            <a:avLst/>
          </a:prstGeom>
          <a:solidFill>
            <a:srgbClr val="008C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3346704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3366"/>
                </a:solidFill>
              </a:rPr>
              <a:t>session_start_hook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3639312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323232"/>
                </a:solidFill>
              </a:rPr>
              <a:t>→ App loads — once per session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3429000"/>
            <a:ext cx="8686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23232"/>
                </a:solidFill>
              </a:rPr>
              <a:t>Logs SESSION_START with unique session ID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4050791"/>
            <a:ext cx="11612880" cy="658368"/>
          </a:xfrm>
          <a:prstGeom prst="rect">
            <a:avLst/>
          </a:prstGeom>
          <a:solidFill>
            <a:srgbClr val="DCE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4320" y="4050791"/>
            <a:ext cx="164592" cy="658368"/>
          </a:xfrm>
          <a:prstGeom prst="rect">
            <a:avLst/>
          </a:prstGeom>
          <a:solidFill>
            <a:srgbClr val="008C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0352" y="4123944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3366"/>
                </a:solidFill>
              </a:rPr>
              <a:t>session_end_hook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" y="4416552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323232"/>
                </a:solidFill>
              </a:rPr>
              <a:t>→ Employee clicks Clear Chat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4206240"/>
            <a:ext cx="8686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23232"/>
                </a:solidFill>
              </a:rPr>
              <a:t>Logs SESSION_END with total query count for the session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4828031"/>
            <a:ext cx="11612880" cy="658368"/>
          </a:xfrm>
          <a:prstGeom prst="rect">
            <a:avLst/>
          </a:prstGeom>
          <a:solidFill>
            <a:srgbClr val="CC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74320" y="4828031"/>
            <a:ext cx="164592" cy="658368"/>
          </a:xfrm>
          <a:prstGeom prst="rect">
            <a:avLst/>
          </a:prstGeom>
          <a:solidFill>
            <a:srgbClr val="B4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0352" y="4901183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3366"/>
                </a:solidFill>
              </a:rPr>
              <a:t>escalation_hook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2" y="5193792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323232"/>
                </a:solidFill>
              </a:rPr>
              <a:t>→ found=False AND escalated=False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08960" y="4983479"/>
            <a:ext cx="8686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23232"/>
                </a:solidFill>
              </a:rPr>
              <a:t>Writes question to unresolved_queries.log — suppressed when EscalationAgent ran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5605272"/>
            <a:ext cx="11612880" cy="658368"/>
          </a:xfrm>
          <a:prstGeom prst="rect">
            <a:avLst/>
          </a:prstGeom>
          <a:solidFill>
            <a:srgbClr val="DCE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74320" y="5605272"/>
            <a:ext cx="164592" cy="658368"/>
          </a:xfrm>
          <a:prstGeom prst="rect">
            <a:avLst/>
          </a:prstGeom>
          <a:solidFill>
            <a:srgbClr val="C8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0352" y="5678424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3366"/>
                </a:solidFill>
              </a:rPr>
              <a:t>compliance_alert_hook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0352" y="5971032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323232"/>
                </a:solidFill>
              </a:rPr>
              <a:t>→ Risk keyword detected in question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08960" y="5760720"/>
            <a:ext cx="8686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23232"/>
                </a:solidFill>
              </a:rPr>
              <a:t>Logs flagged query; returns { alert: str } for yellow warning banner in UI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Agent Routing — Decision Tree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80" y="1188720"/>
            <a:ext cx="1828800" cy="5943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257800" y="1261872"/>
            <a:ext cx="173736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Employee Question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80" y="2011680"/>
            <a:ext cx="1828800" cy="594360"/>
          </a:xfrm>
          <a:prstGeom prst="rect">
            <a:avLst/>
          </a:prstGeom>
          <a:solidFill>
            <a:srgbClr val="008C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57800" y="2084832"/>
            <a:ext cx="173736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QueryClassifier
Agent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" y="3108960"/>
            <a:ext cx="2194560" cy="594360"/>
          </a:xfrm>
          <a:prstGeom prst="rect">
            <a:avLst/>
          </a:prstGeom>
          <a:solidFill>
            <a:srgbClr val="640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" y="3182112"/>
            <a:ext cx="210312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summary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68880" y="3108960"/>
            <a:ext cx="2194560" cy="594360"/>
          </a:xfrm>
          <a:prstGeom prst="rect">
            <a:avLst/>
          </a:prstGeom>
          <a:solidFill>
            <a:srgbClr val="B4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14600" y="3182112"/>
            <a:ext cx="210312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escalation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0" y="3108960"/>
            <a:ext cx="2377440" cy="5943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3182112"/>
            <a:ext cx="228600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policy_query
(multi-match)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23760" y="3108960"/>
            <a:ext cx="2286000" cy="5943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69480" y="3182112"/>
            <a:ext cx="219456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policy_query
(single)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601200" y="3108960"/>
            <a:ext cx="2286000" cy="594360"/>
          </a:xfrm>
          <a:prstGeom prst="rect">
            <a:avLst/>
          </a:prstGeom>
          <a:solidFill>
            <a:srgbClr val="323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46920" y="3182112"/>
            <a:ext cx="219456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out_of_scope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4206240"/>
            <a:ext cx="2194560" cy="594360"/>
          </a:xfrm>
          <a:prstGeom prst="rect">
            <a:avLst/>
          </a:prstGeom>
          <a:solidFill>
            <a:srgbClr val="640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8600" y="4279392"/>
            <a:ext cx="210312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SummaryAgent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468880" y="4206240"/>
            <a:ext cx="2194560" cy="594360"/>
          </a:xfrm>
          <a:prstGeom prst="rect">
            <a:avLst/>
          </a:prstGeom>
          <a:solidFill>
            <a:srgbClr val="B4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14600" y="4279392"/>
            <a:ext cx="210312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EscalationAgent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54880" y="4206240"/>
            <a:ext cx="2377440" cy="5943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0600" y="4279392"/>
            <a:ext cx="228600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MultiPolicyAgent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223760" y="4206240"/>
            <a:ext cx="2286000" cy="5943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69480" y="4279392"/>
            <a:ext cx="219456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PolicySearchAgent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601200" y="4206240"/>
            <a:ext cx="2286000" cy="594360"/>
          </a:xfrm>
          <a:prstGeom prst="rect">
            <a:avLst/>
          </a:prstGeom>
          <a:solidFill>
            <a:srgbClr val="323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46920" y="4279392"/>
            <a:ext cx="219456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Direct Fallback
Message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223760" y="5212080"/>
            <a:ext cx="2286000" cy="594360"/>
          </a:xfrm>
          <a:prstGeom prst="rect">
            <a:avLst/>
          </a:prstGeom>
          <a:solidFill>
            <a:srgbClr val="C8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69480" y="5285232"/>
            <a:ext cx="219456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FallbackAgent
(self-heal)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89320" y="178308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3366"/>
                </a:solidFill>
              </a:rPr>
              <a:t>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" y="3712463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23232"/>
                </a:solidFill>
              </a:rPr>
              <a:t>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80" y="3712463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23232"/>
                </a:solidFill>
              </a:rPr>
              <a:t>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52160" y="3712463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23232"/>
                </a:solidFill>
              </a:rPr>
              <a:t>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0" y="3712463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23232"/>
                </a:solidFill>
              </a:rPr>
              <a:t>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7040" y="3712463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23232"/>
                </a:solidFill>
              </a:rPr>
              <a:t>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55279" y="482803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85A00"/>
                </a:solidFill>
              </a:rPr>
              <a:t>↓ no match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Self-Healing Workflow — FallbackAgent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03366"/>
                </a:solidFill>
              </a:rPr>
              <a:t>When PolicySearchAgent returns found=False, the Orchestrator automatically chains FallbackAgent. EscalationAgent is SEPARATE — only triggered by explicit escalation intent.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828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B40000"/>
                </a:solidFill>
              </a:rPr>
              <a:t>Note: EscalationAgent is NOT part of the self-healing chain. It runs only when QueryClassifierAgent detects 'escalation' intent.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2331720"/>
            <a:ext cx="457200" cy="530352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2423160"/>
            <a:ext cx="457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1148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3366"/>
                </a:solidFill>
              </a:rPr>
              <a:t>1. PolicySearchAgent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3347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323232"/>
                </a:solidFill>
              </a:rPr>
              <a:t>Keyword scoring returns score=0 across all 5 policies → found=False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971800"/>
            <a:ext cx="457200" cy="530352"/>
          </a:xfrm>
          <a:prstGeom prst="rect">
            <a:avLst/>
          </a:prstGeom>
          <a:solidFill>
            <a:srgbClr val="C8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3063240"/>
            <a:ext cx="457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71800"/>
            <a:ext cx="41148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3366"/>
                </a:solidFill>
              </a:rPr>
              <a:t>2. OrchestratorAgent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7355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323232"/>
                </a:solidFill>
              </a:rPr>
              <a:t>Detects found=False → automatically invokes FallbackAgent (self-healing)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3611879"/>
            <a:ext cx="457200" cy="530352"/>
          </a:xfrm>
          <a:prstGeom prst="rect">
            <a:avLst/>
          </a:prstGeom>
          <a:solidFill>
            <a:srgbClr val="C8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3703320"/>
            <a:ext cx="457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611879"/>
            <a:ext cx="41148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3366"/>
                </a:solidFill>
              </a:rPr>
              <a:t>3. FallbackAgent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913631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323232"/>
                </a:solidFill>
              </a:rPr>
              <a:t>Calls cross_reference() at low threshold (score &gt; 0) for partial match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4251959"/>
            <a:ext cx="457200" cy="530352"/>
          </a:xfrm>
          <a:prstGeom prst="rect">
            <a:avLst/>
          </a:prstGeom>
          <a:solidFill>
            <a:srgbClr val="B4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4343399"/>
            <a:ext cx="457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251959"/>
            <a:ext cx="41148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3366"/>
                </a:solidFill>
              </a:rPr>
              <a:t>4. escalation_hook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55371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323232"/>
                </a:solidFill>
              </a:rPr>
              <a:t>Fires because found=False AND escalated=False → logs to unresolved_queries.log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4892040"/>
            <a:ext cx="457200" cy="530352"/>
          </a:xfrm>
          <a:prstGeom prst="rect">
            <a:avLst/>
          </a:prstGeom>
          <a:solidFill>
            <a:srgbClr val="007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4320" y="4983479"/>
            <a:ext cx="457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892040"/>
            <a:ext cx="41148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3366"/>
                </a:solidFill>
              </a:rPr>
              <a:t>5. AuditLoggerAgent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1937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323232"/>
                </a:solidFill>
              </a:rPr>
              <a:t>Logs query + fallback status to query_audit.log (runs after every query type)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5532120"/>
            <a:ext cx="457200" cy="530352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4320" y="5623559"/>
            <a:ext cx="457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532120"/>
            <a:ext cx="41148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3366"/>
                </a:solidFill>
              </a:rPr>
              <a:t>6. post_answer_hook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583387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323232"/>
                </a:solidFill>
              </a:rPr>
              <a:t>Logs response time to session_events.log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6172199"/>
            <a:ext cx="457200" cy="530352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4320" y="6263639"/>
            <a:ext cx="457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6172199"/>
            <a:ext cx="41148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3366"/>
                </a:solidFill>
              </a:rPr>
              <a:t>7. UI displays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6473951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323232"/>
                </a:solidFill>
              </a:rPr>
              <a:t>Warning box + contact details + FallbackAgent chip shown to employee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KEYWORD_MAP — The Scoring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9728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03366"/>
                </a:solidFill>
              </a:rPr>
              <a:t>Location: utils/knowledge_base.py  |  The single data structure that drives ALL policy matching across every agent.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691640"/>
            <a:ext cx="3749039" cy="192024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764792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🏠 Loan Policy
LP-001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404872"/>
            <a:ext cx="35661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CE5FF"/>
                </a:solidFill>
              </a:rPr>
              <a:t>loan, borrow, mortgage, personal loan, home loan, auto loan, credit score, prepayment, tenure, emi, disbursement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0" y="1691640"/>
            <a:ext cx="3749039" cy="1920240"/>
          </a:xfrm>
          <a:prstGeom prst="rect">
            <a:avLst/>
          </a:prstGeom>
          <a:solidFill>
            <a:srgbClr val="640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97679" y="1764792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🪪 KYC Policy
KYC-002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79" y="2404872"/>
            <a:ext cx="35661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CE5FF"/>
                </a:solidFill>
              </a:rPr>
              <a:t>kyc, know your customer, identity, verification, id proof, address proof, passport, driver license, aml, due diligence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38160" y="1691640"/>
            <a:ext cx="3749039" cy="1920240"/>
          </a:xfrm>
          <a:prstGeom prst="rect">
            <a:avLst/>
          </a:prstGeom>
          <a:solidFill>
            <a:srgbClr val="B4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764792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📣 Complaint Policy
CCP-003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404872"/>
            <a:ext cx="35661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CE5FF"/>
                </a:solidFill>
              </a:rPr>
              <a:t>complaint, complain, grievance, dispute, escalate, feedback, resolution, refund, compensation, ombudsman, service complaint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3794760"/>
            <a:ext cx="3749039" cy="1920240"/>
          </a:xfrm>
          <a:prstGeom prst="rect">
            <a:avLst/>
          </a:prstGeom>
          <a:solidFill>
            <a:srgbClr val="008C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3867912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💳 Credit Card
CCP-004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4507992"/>
            <a:ext cx="35661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CE5FF"/>
                </a:solidFill>
              </a:rPr>
              <a:t>credit card, card, billing, statement, credit limit, reward, cashback, annual fee, lost card, minimum payment, apr, chargeback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06240" y="3794760"/>
            <a:ext cx="3749039" cy="1920240"/>
          </a:xfrm>
          <a:prstGeom prst="rect">
            <a:avLst/>
          </a:prstGeom>
          <a:solidFill>
            <a:srgbClr val="C8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7679" y="3867912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🏦 Account Opening
AOP-005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79" y="4507992"/>
            <a:ext cx="35661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CE5FF"/>
                </a:solidFill>
              </a:rPr>
              <a:t>account, open account, savings, current account, fixed deposit, joint account, minimum balance, debit card, dormant, cheque book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Governance Framework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280160"/>
            <a:ext cx="3749039" cy="2194560"/>
          </a:xfrm>
          <a:prstGeom prst="rect">
            <a:avLst/>
          </a:prstGeom>
          <a:solidFill>
            <a:srgbClr val="CC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280160"/>
            <a:ext cx="3749039" cy="5029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353312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🔒 No PII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79" y="1874519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23232"/>
                </a:solidFill>
              </a:rPr>
              <a:t>• No customer data processed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79" y="2377439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23232"/>
                </a:solidFill>
              </a:rPr>
              <a:t>• Queries cleared on session close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79" y="2880360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23232"/>
                </a:solidFill>
              </a:rPr>
              <a:t>• No external API or internet calls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06240" y="1280160"/>
            <a:ext cx="3749039" cy="2194560"/>
          </a:xfrm>
          <a:prstGeom prst="rect">
            <a:avLst/>
          </a:prstGeom>
          <a:solidFill>
            <a:srgbClr val="CC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06240" y="1280160"/>
            <a:ext cx="3749039" cy="5029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79" y="1353312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📋 Source Control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1874519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23232"/>
                </a:solidFill>
              </a:rPr>
              <a:t>• Answers verbatim from approved text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2377439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23232"/>
                </a:solidFill>
              </a:rPr>
              <a:t>• POLICY_DISPLAY_NAMES canonical in format_skill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2880360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23232"/>
                </a:solidFill>
              </a:rPr>
              <a:t>• No hallucination possible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280160"/>
            <a:ext cx="3749039" cy="2194560"/>
          </a:xfrm>
          <a:prstGeom prst="rect">
            <a:avLst/>
          </a:prstGeom>
          <a:solidFill>
            <a:srgbClr val="CC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38160" y="1280160"/>
            <a:ext cx="3749039" cy="502920"/>
          </a:xfrm>
          <a:prstGeom prst="rect">
            <a:avLst/>
          </a:prstGeom>
          <a:solidFill>
            <a:srgbClr val="008C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353312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🛡️ Agent Governance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1874519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23232"/>
                </a:solidFill>
              </a:rPr>
              <a:t>• All agents: read-only on policies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2377439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23232"/>
                </a:solidFill>
              </a:rPr>
              <a:t>• Only AuditLoggerAgent writes logs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2880360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23232"/>
                </a:solidFill>
              </a:rPr>
              <a:t>• utils/agent.py is deprecated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3749039"/>
            <a:ext cx="3749039" cy="2194560"/>
          </a:xfrm>
          <a:prstGeom prst="rect">
            <a:avLst/>
          </a:prstGeom>
          <a:solidFill>
            <a:srgbClr val="CC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74320" y="3749039"/>
            <a:ext cx="3749039" cy="502920"/>
          </a:xfrm>
          <a:prstGeom prst="rect">
            <a:avLst/>
          </a:prstGeom>
          <a:solidFill>
            <a:srgbClr val="B4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3822191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⚠️ Risk Detection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79" y="4343400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23232"/>
                </a:solidFill>
              </a:rPr>
              <a:t>• 14 compliance risk keywords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79" y="4846320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23232"/>
                </a:solidFill>
              </a:rPr>
              <a:t>• compliance_alert_hook fires on match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79" y="5349240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23232"/>
                </a:solidFill>
              </a:rPr>
              <a:t>• Logged + warning banner shown in UI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06240" y="3749039"/>
            <a:ext cx="3749039" cy="2194560"/>
          </a:xfrm>
          <a:prstGeom prst="rect">
            <a:avLst/>
          </a:prstGeom>
          <a:solidFill>
            <a:srgbClr val="CC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06240" y="3749039"/>
            <a:ext cx="3749039" cy="502920"/>
          </a:xfrm>
          <a:prstGeom prst="rect">
            <a:avLst/>
          </a:prstGeom>
          <a:solidFill>
            <a:srgbClr val="007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97679" y="3822191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🔄 Audit Trail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43400" y="4343400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23232"/>
                </a:solidFill>
              </a:rPr>
              <a:t>• query_audit.log (every query)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43400" y="4846320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23232"/>
                </a:solidFill>
              </a:rPr>
              <a:t>• unresolved_queries.log (fallbacks)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43400" y="5349240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23232"/>
                </a:solidFill>
              </a:rPr>
              <a:t>• session_events.log (all events)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38160" y="3749039"/>
            <a:ext cx="3749039" cy="2194560"/>
          </a:xfrm>
          <a:prstGeom prst="rect">
            <a:avLst/>
          </a:prstGeom>
          <a:solidFill>
            <a:srgbClr val="CC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138160" y="3749039"/>
            <a:ext cx="3749039" cy="502920"/>
          </a:xfrm>
          <a:prstGeom prst="rect">
            <a:avLst/>
          </a:prstGeom>
          <a:solidFill>
            <a:srgbClr val="C8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29600" y="3822191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👥 Access Controls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75320" y="4343400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23232"/>
                </a:solidFill>
              </a:rPr>
              <a:t>• Internal intranet only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5320" y="4846320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23232"/>
                </a:solidFill>
              </a:rPr>
              <a:t>• Policy owners update .txt files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20" y="5349240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23232"/>
                </a:solidFill>
              </a:rPr>
              <a:t>• IT controls deployment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Testing &amp; Evaluation — 49 Tests, 100% Pass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2560320" cy="16459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E5FF"/>
                </a:solidFill>
              </a:rPr>
              <a:t>Total Tests</a:t>
            </a:r>
          </a:p>
        </p:txBody>
      </p:sp>
      <p:sp>
        <p:nvSpPr>
          <p:cNvPr id="7" name="Rectangle 6"/>
          <p:cNvSpPr/>
          <p:nvPr/>
        </p:nvSpPr>
        <p:spPr>
          <a:xfrm>
            <a:off x="3291840" y="1280160"/>
            <a:ext cx="2560320" cy="16459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83280" y="137160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</a:rPr>
              <a:t>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22860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E5FF"/>
                </a:solidFill>
              </a:rPr>
              <a:t>Passed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280160"/>
            <a:ext cx="2560320" cy="16459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137160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22860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E5FF"/>
                </a:solidFill>
              </a:rPr>
              <a:t>Failed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961120" y="1280160"/>
            <a:ext cx="2560320" cy="1645920"/>
          </a:xfrm>
          <a:prstGeom prst="rect">
            <a:avLst/>
          </a:prstGeom>
          <a:solidFill>
            <a:srgbClr val="008C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0" y="137160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</a:rPr>
              <a:t>100%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560" y="22860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E5FF"/>
                </a:solidFill>
              </a:rPr>
              <a:t>Pass Rate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2004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3366"/>
                </a:solidFill>
              </a:rPr>
              <a:t>By Category: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611880"/>
            <a:ext cx="3749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23232"/>
                </a:solidFill>
              </a:rPr>
              <a:t>✅  PolicySearchAgent (5 domains): 5/5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40" y="3611880"/>
            <a:ext cx="3749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23232"/>
                </a:solidFill>
              </a:rPr>
              <a:t>✅  QueryClassifierAgent: 6/6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611880"/>
            <a:ext cx="3749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23232"/>
                </a:solidFill>
              </a:rPr>
              <a:t>✅  MultiPolicyAgent (incl. single): 4/4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251960"/>
            <a:ext cx="3749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23232"/>
                </a:solidFill>
              </a:rPr>
              <a:t>✅  SummaryAgent (incl. fallback path): 4/4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0" y="4251960"/>
            <a:ext cx="3749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23232"/>
                </a:solidFill>
              </a:rPr>
              <a:t>✅  EscalationAgent: 4/4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4251960"/>
            <a:ext cx="3749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23232"/>
                </a:solidFill>
              </a:rPr>
              <a:t>✅  FallbackAgent: 5/5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4892040"/>
            <a:ext cx="3749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23232"/>
                </a:solidFill>
              </a:rPr>
              <a:t>✅  AuditLoggerAgent methods: 2/2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06240" y="4892040"/>
            <a:ext cx="3749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23232"/>
                </a:solidFill>
              </a:rPr>
              <a:t>✅  All 6 Hooks: 6/6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892040"/>
            <a:ext cx="3749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23232"/>
                </a:solidFill>
              </a:rPr>
              <a:t>✅  Compliance Risk: 3/3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Business Impact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280160"/>
            <a:ext cx="5486400" cy="1554480"/>
          </a:xfrm>
          <a:prstGeom prst="rect">
            <a:avLst/>
          </a:prstGeom>
          <a:solidFill>
            <a:srgbClr val="CC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280160"/>
            <a:ext cx="5486400" cy="5029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53312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⏱️ 95% Faster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20239"/>
            <a:ext cx="5212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23232"/>
                </a:solidFill>
              </a:rPr>
              <a:t>Policy lookup: 5-10 min → under 30 sec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280160"/>
            <a:ext cx="5486400" cy="1554480"/>
          </a:xfrm>
          <a:prstGeom prst="rect">
            <a:avLst/>
          </a:prstGeom>
          <a:solidFill>
            <a:srgbClr val="CC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0" y="1280160"/>
            <a:ext cx="5486400" cy="5029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353312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✅ Consistent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1920239"/>
            <a:ext cx="5212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23232"/>
                </a:solidFill>
              </a:rPr>
              <a:t>All employees get identical approved answers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017520"/>
            <a:ext cx="5486400" cy="1554480"/>
          </a:xfrm>
          <a:prstGeom prst="rect">
            <a:avLst/>
          </a:prstGeom>
          <a:solidFill>
            <a:srgbClr val="CC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3017520"/>
            <a:ext cx="5486400" cy="5029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3090672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🤖 7 Agents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657600"/>
            <a:ext cx="5212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23232"/>
                </a:solidFill>
              </a:rPr>
              <a:t>Classify, search, merge, summarise, escalate, heal, audit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3017520"/>
            <a:ext cx="5486400" cy="1554480"/>
          </a:xfrm>
          <a:prstGeom prst="rect">
            <a:avLst/>
          </a:prstGeom>
          <a:solidFill>
            <a:srgbClr val="CC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3017520"/>
            <a:ext cx="5486400" cy="5029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3090672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📉 Risk Reduced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3657600"/>
            <a:ext cx="5212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23232"/>
                </a:solidFill>
              </a:rPr>
              <a:t>14 compliance keywords auto-flagged in real time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754879"/>
            <a:ext cx="5486400" cy="1554480"/>
          </a:xfrm>
          <a:prstGeom prst="rect">
            <a:avLst/>
          </a:prstGeom>
          <a:solidFill>
            <a:srgbClr val="CC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4754879"/>
            <a:ext cx="5486400" cy="5029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828031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📧 Auto Escalation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394959"/>
            <a:ext cx="5212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23232"/>
                </a:solidFill>
              </a:rPr>
              <a:t>Draft email generated — no manual drafting needed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0" y="4754879"/>
            <a:ext cx="5486400" cy="1554480"/>
          </a:xfrm>
          <a:prstGeom prst="rect">
            <a:avLst/>
          </a:prstGeom>
          <a:solidFill>
            <a:srgbClr val="CC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7920" y="4754879"/>
            <a:ext cx="5486400" cy="5029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80" y="4828031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🔒 Zero Data Risk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5394959"/>
            <a:ext cx="5212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23232"/>
                </a:solidFill>
              </a:rPr>
              <a:t>No PII, no internet, no external APIs, offline only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834640"/>
            <a:ext cx="12188952" cy="54864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0" y="457200"/>
            <a:ext cx="914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0" i="0">
                <a:solidFill>
                  <a:srgbClr val="FFFFFF"/>
                </a:solidFill>
              </a:rPr>
              <a:t>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7744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CCE5FF"/>
                </a:solidFill>
              </a:rPr>
              <a:t>Internal Bank Employee Assistant — Multi-Agent Capstone v2.0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089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C107"/>
                </a:solidFill>
              </a:rPr>
              <a:t>Questions &amp; Discussion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CE5FF"/>
                </a:solidFill>
              </a:rPr>
              <a:t>7 Agents  •  3 Skills  •  6 Hooks  •  KEYWORD_MAP  •  3 Log Files  •  49 Tests  •  100% Pass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