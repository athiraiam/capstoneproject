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0" r:id="rId21"/>
    <p:sldId id="271" r:id="rId22"/>
    <p:sldId id="272" r:id="rId23"/>
    <p:sldId id="273" r:id="rId24"/>
    <p:sldId id="274" r:id="rId25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🏦  Internal Bank Employee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CCE5FF"/>
                </a:solidFill>
              </a:rPr>
              <a:t>Multi-Agent AI System — Capstone Project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5FF"/>
                </a:solidFill>
              </a:rPr>
              <a:t>NexaBank Internal Division  |  June 14,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C107"/>
                </a:solidFill>
              </a:rPr>
              <a:t>Python  •  Streamlit  •  7 Agents  •  3 Skills  •  6 Hooks  •  49 Tests  •  100%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Business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247120" cy="7040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8988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3366"/>
                </a:solidFill>
              </a:rPr>
              <a:t>⚠  Bank employees reference 5+ internal policies daily — manual search takes 5-10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21408"/>
            <a:ext cx="11247120" cy="7040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31136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3366"/>
                </a:solidFill>
              </a:rPr>
              <a:t>⚠  No single system classifies, searches, summarizes, escalates, and audits policy queries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962656"/>
            <a:ext cx="11247120" cy="7040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072384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3366"/>
                </a:solidFill>
              </a:rPr>
              <a:t>⚠  Inconsistent answers lead to compliance risks and customer service failures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03904"/>
            <a:ext cx="11247120" cy="7040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913632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3366"/>
                </a:solidFill>
              </a:rPr>
              <a:t>⚠  New employees lack guidance — policy documents are 50+ lines each and hard to navigate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645152"/>
            <a:ext cx="11247120" cy="7040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754880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3366"/>
                </a:solidFill>
              </a:rPr>
              <a:t>⚠  Unresolved queries go untracked — no audit trail for compliance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3366"/>
                </a:solidFill>
              </a:rPr>
              <a:t>A fully orchestrated multi-agent AI system — offline, traceable, self-healing.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3749039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🤖 OrchestratorAgent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23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Coordinates all 7 subagents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828800"/>
            <a:ext cx="3749039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9202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🔍 Intent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2423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Routes to the right agent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828800"/>
            <a:ext cx="3749039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📚 Policy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23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Keyword scoring on 5 policies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83280"/>
            <a:ext cx="3749039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747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📝 Multi-Policy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Merges 2 policy domain answers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383280"/>
            <a:ext cx="3749039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34747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📋 Summary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5-bullet summaries on demand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383280"/>
            <a:ext cx="3749039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4747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📧 Escalation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Auto-drafts escalation emails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37760"/>
            <a:ext cx="3749039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0292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🛡️ Audit Logger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5321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Logs every query silently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4937760"/>
            <a:ext cx="3749039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9" y="50292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⚠️ Self-Healing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9" y="55321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FallbackAgent auto-recovers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4937760"/>
            <a:ext cx="3749039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50292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🔗 6 Lifecycle Hooks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5321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Pre/post query, session,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OrchestratorAgent — 9-Step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02920" cy="521207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7101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pre_query_hook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9961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23232"/>
                </a:solidFill>
              </a:rPr>
              <a:t>Validate &amp; sanitize input — reject empty/&lt;3-char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01368"/>
            <a:ext cx="502920" cy="521207"/>
          </a:xfrm>
          <a:prstGeom prst="rect">
            <a:avLst/>
          </a:prstGeom>
          <a:solidFill>
            <a:srgbClr val="008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0136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QueryClassifierAgent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12264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23232"/>
                </a:solidFill>
              </a:rPr>
              <a:t>Detect intent: policy_query/summary/escalation/out_of_scope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14016"/>
            <a:ext cx="502920" cy="521207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49631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140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OrchestratorAgent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24912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23232"/>
                </a:solidFill>
              </a:rPr>
              <a:t>Routing decision (see routing table)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26664"/>
            <a:ext cx="502920" cy="521207"/>
          </a:xfrm>
          <a:prstGeom prst="rect">
            <a:avLst/>
          </a:prstGeom>
          <a:solidFill>
            <a:srgbClr val="64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1089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26664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SubAgent executes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37560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23232"/>
                </a:solidFill>
              </a:rPr>
              <a:t>Answer produced by chosen agent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639312"/>
            <a:ext cx="502920" cy="521207"/>
          </a:xfrm>
          <a:prstGeom prst="rect">
            <a:avLst/>
          </a:prstGeom>
          <a:solidFill>
            <a:srgbClr val="00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72160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3931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AuditLoggerAgent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50208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23232"/>
                </a:solidFill>
              </a:rPr>
              <a:t>Logs every query silently — runs after all queries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51960"/>
            <a:ext cx="502920" cy="521207"/>
          </a:xfrm>
          <a:prstGeom prst="rect">
            <a:avLst/>
          </a:prstGeom>
          <a:solidFill>
            <a:srgbClr val="B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3342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5196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compliance_alert_hook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6285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23232"/>
                </a:solidFill>
              </a:rPr>
              <a:t>Fires IF risk keywords detected in question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864608"/>
            <a:ext cx="502920" cy="521207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94690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6460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escalation_hook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75504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23232"/>
                </a:solidFill>
              </a:rPr>
              <a:t>Fires ONLY IF found=False AND escalated=False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477256"/>
            <a:ext cx="502920" cy="521207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555955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7725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post_answer_hook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788152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23232"/>
                </a:solidFill>
              </a:rPr>
              <a:t>Logs response time and outcome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089904"/>
            <a:ext cx="502920" cy="521207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1722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089904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Result → 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400800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23232"/>
                </a:solidFill>
              </a:rPr>
              <a:t>Answer + badge + agent chip displayed in chat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7 Subagents — Roles &amp;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2834640" cy="2011680"/>
          </a:xfrm>
          <a:prstGeom prst="rect">
            <a:avLst/>
          </a:prstGeom>
          <a:solidFill>
            <a:srgbClr val="008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SubAgent 1
QueryClassifierAgent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Detects intent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policy_query / summary / escalation / out_of_scope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280160"/>
            <a:ext cx="2834640" cy="2011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0128" y="13716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SubAgent 2
PolicySearchAgent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965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Single-policy keyword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24688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Best match from 5 policies via KEYWORD_MAP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1280160"/>
            <a:ext cx="2834640" cy="2011680"/>
          </a:xfrm>
          <a:prstGeom prst="rect">
            <a:avLst/>
          </a:prstGeom>
          <a:solidFill>
            <a:srgbClr val="64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3716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SubAgent 3
MultiPolicyAgent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1965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Spans 2 policy domains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4688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Merges top-2 snippets when both scores ≥ threshold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7424" y="1280160"/>
            <a:ext cx="2834640" cy="2011680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8864" y="13716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SubAgent 4
SummaryAgent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1965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On-demand policy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24688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5-bullet summary; POLICY_NAME_HINTS + fallback 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66160"/>
            <a:ext cx="2834640" cy="2011680"/>
          </a:xfrm>
          <a:prstGeom prst="rect">
            <a:avLst/>
          </a:prstGeom>
          <a:solidFill>
            <a:srgbClr val="B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6576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SubAgent 5
EscalationAgent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251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Routes to correct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7548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Contact lookup + auto-draft escalation email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18688" y="3566160"/>
            <a:ext cx="2834640" cy="2011680"/>
          </a:xfrm>
          <a:prstGeom prst="rect">
            <a:avLst/>
          </a:prstGeom>
          <a:solidFill>
            <a:srgbClr val="78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0128" y="36576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SubAgent 6
FallbackAgent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4251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Self-healing on no 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47548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Partial recovery via cross_reference at low threshold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3056" y="3566160"/>
            <a:ext cx="2834640" cy="2011680"/>
          </a:xfrm>
          <a:prstGeom prst="rect">
            <a:avLst/>
          </a:prstGeom>
          <a:solidFill>
            <a:srgbClr val="00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36576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SubAgent 7
AuditLoggerAgent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4251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Background audit logging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6" y="47548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Logs every query; detects 14 compliance risk keywords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Skills — Reusable Functions Across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3749039" cy="5120640"/>
          </a:xfrm>
          <a:prstGeom prst="rect">
            <a:avLst/>
          </a:prstGeom>
          <a:solidFill>
            <a:srgbClr val="008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search_skill.py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9202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E5FF"/>
                </a:solidFill>
              </a:rPr>
              <a:t>search_policy()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2128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Keyword scores all 5 policies via KEYWORD_MAP; returns best snippet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67004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E5FF"/>
                </a:solidFill>
              </a:rPr>
              <a:t>extract_keywords()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96265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Pulls meaningful words from question for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4198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E5FF"/>
                </a:solidFill>
              </a:rPr>
              <a:t>cross_reference()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712463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Scores ALL policies — drives multi-policy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749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Used by: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33095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PolicySearchAgent  ·  MultiPolicyAgent  ·  SummaryAgent  ·  FallbackAgent  ·  EscalationAgent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34440"/>
            <a:ext cx="3749039" cy="5120640"/>
          </a:xfrm>
          <a:prstGeom prst="rect">
            <a:avLst/>
          </a:prstGeom>
          <a:solidFill>
            <a:srgbClr val="64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13258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format_skill.py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9202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E5FF"/>
                </a:solidFill>
              </a:rPr>
              <a:t>POLICY_DISPLAY_NAMES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2128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Canonical name map — all agents import from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67004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E5FF"/>
                </a:solidFill>
              </a:rPr>
              <a:t>format_answer()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96265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Cleans raw policy text into readable markdown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4198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E5FF"/>
                </a:solidFill>
              </a:rPr>
              <a:t>summarize_policy()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712463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5-bullet summary of any policy document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16966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E5FF"/>
                </a:solidFill>
              </a:rPr>
              <a:t>generate_escalation_email()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462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Drafts pre-filled escalation email body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50749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Used by: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533095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PolicySearchAgent  ·  SummaryAgent  ·  EscalationAgent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234440"/>
            <a:ext cx="3749039" cy="5120640"/>
          </a:xfrm>
          <a:prstGeom prst="rect">
            <a:avLst/>
          </a:prstGeom>
          <a:solidFill>
            <a:srgbClr val="00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3258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audit_skill.py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19202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E5FF"/>
                </a:solidFill>
              </a:rPr>
              <a:t>log_query()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2128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Appends to query_audit.log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67004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E5FF"/>
                </a:solidFill>
              </a:rPr>
              <a:t>log_unresolved()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96265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Appends to unresolved_queries.log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4198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E5FF"/>
                </a:solidFill>
              </a:rPr>
              <a:t>log_session_event()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712463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Logs all session lifecycle events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16966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E5FF"/>
                </a:solidFill>
              </a:rPr>
              <a:t>detect_compliance_risk()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462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Returns True if risk keywords found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9194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E5FF"/>
                </a:solidFill>
              </a:rPr>
              <a:t>read_audit_log()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521207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Reads last N lines — used by app.py audit panel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0749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Used by: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33095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AuditLoggerAgent  ·  All 6 Hooks  ·  app.py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Hooks — 6 Lifecycle Callbacks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3366"/>
                </a:solidFill>
              </a:rPr>
              <a:t>Hooks fire automatically at specific pipeline points. They handle cross-cutting concerns without modifying agent logic.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19072"/>
            <a:ext cx="11612880" cy="65836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64592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79222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pre_query_hook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084831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23232"/>
                </a:solidFill>
              </a:rPr>
              <a:t>→ BEFORE any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874519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Validates input; rejects empty/&lt;3-char; logs incoming 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96312"/>
            <a:ext cx="11612880" cy="658368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496312"/>
            <a:ext cx="164592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56946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post_answer_hook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8620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23232"/>
                </a:solidFill>
              </a:rPr>
              <a:t>→ AFTER full pipeline completes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65176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Logs matched policy, response time, ANSWERED/FALLBACK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73552"/>
            <a:ext cx="11612880" cy="65836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273552"/>
            <a:ext cx="164592" cy="658368"/>
          </a:xfrm>
          <a:prstGeom prst="rect">
            <a:avLst/>
          </a:prstGeom>
          <a:solidFill>
            <a:srgbClr val="008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session_start_hook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63931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23232"/>
                </a:solidFill>
              </a:rPr>
              <a:t>→ App loads — once per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42900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Logs SESSION_START with unique session 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050791"/>
            <a:ext cx="11612880" cy="658368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050791"/>
            <a:ext cx="164592" cy="658368"/>
          </a:xfrm>
          <a:prstGeom prst="rect">
            <a:avLst/>
          </a:prstGeom>
          <a:solidFill>
            <a:srgbClr val="008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12394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session_end_hook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4165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23232"/>
                </a:solidFill>
              </a:rPr>
              <a:t>→ Employee clicks Clear Chat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20624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Logs SESSION_END with total query count for the session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828031"/>
            <a:ext cx="11612880" cy="65836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828031"/>
            <a:ext cx="164592" cy="658368"/>
          </a:xfrm>
          <a:prstGeom prst="rect">
            <a:avLst/>
          </a:prstGeom>
          <a:solidFill>
            <a:srgbClr val="B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901183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escalation_hook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51937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23232"/>
                </a:solidFill>
              </a:rPr>
              <a:t>→ found=False AND escalated=False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983479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Writes question to unresolved_queries.log — suppressed when EscalationAgent ran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605272"/>
            <a:ext cx="11612880" cy="658368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605272"/>
            <a:ext cx="164592" cy="658368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567842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compliance_alert_hook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9710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23232"/>
                </a:solidFill>
              </a:rPr>
              <a:t>→ Risk keyword detected in question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76072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Logs flagged query; returns { alert: str } for yellow warning banner in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Agent Routing — Decision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80" y="1188720"/>
            <a:ext cx="1828800" cy="5943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57800" y="1261872"/>
            <a:ext cx="1737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Employee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2011680"/>
            <a:ext cx="1828800" cy="594360"/>
          </a:xfrm>
          <a:prstGeom prst="rect">
            <a:avLst/>
          </a:prstGeom>
          <a:solidFill>
            <a:srgbClr val="008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57800" y="2084832"/>
            <a:ext cx="1737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QueryClassifier
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3108960"/>
            <a:ext cx="2194560" cy="594360"/>
          </a:xfrm>
          <a:prstGeom prst="rect">
            <a:avLst/>
          </a:prstGeom>
          <a:solidFill>
            <a:srgbClr val="64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3182112"/>
            <a:ext cx="21031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3108960"/>
            <a:ext cx="2194560" cy="594360"/>
          </a:xfrm>
          <a:prstGeom prst="rect">
            <a:avLst/>
          </a:prstGeom>
          <a:solidFill>
            <a:srgbClr val="B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3182112"/>
            <a:ext cx="21031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escalation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3108960"/>
            <a:ext cx="2377440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3182112"/>
            <a:ext cx="2286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policy_query
(multi-match)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3108960"/>
            <a:ext cx="2286000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182112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policy_query
(single)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3108960"/>
            <a:ext cx="2286000" cy="59436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3182112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out_of_scope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4206240"/>
            <a:ext cx="2194560" cy="594360"/>
          </a:xfrm>
          <a:prstGeom prst="rect">
            <a:avLst/>
          </a:prstGeom>
          <a:solidFill>
            <a:srgbClr val="64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4279392"/>
            <a:ext cx="21031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SummaryAgent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4206240"/>
            <a:ext cx="2194560" cy="594360"/>
          </a:xfrm>
          <a:prstGeom prst="rect">
            <a:avLst/>
          </a:prstGeom>
          <a:solidFill>
            <a:srgbClr val="B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279392"/>
            <a:ext cx="21031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EscalationAgent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4206240"/>
            <a:ext cx="2377440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4279392"/>
            <a:ext cx="2286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MultiPolicyAgent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4206240"/>
            <a:ext cx="2286000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4279392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PolicySearchAgent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4206240"/>
            <a:ext cx="2286000" cy="59436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4279392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Direct Fallback
Message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5212080"/>
            <a:ext cx="2286000" cy="594360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5285232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FallbackAgent
(self-heal)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1783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712463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3232"/>
                </a:solidFill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712463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3232"/>
                </a:solidFill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712463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3232"/>
                </a:solidFill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712463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3232"/>
                </a:solidFill>
              </a:rPr>
              <a:t>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3712463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3232"/>
                </a:solidFill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8280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85A00"/>
                </a:solidFill>
              </a:rPr>
              <a:t>↓ no match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Self-Healing Workflow — FallbackAgent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3366"/>
                </a:solidFill>
              </a:rPr>
              <a:t>When PolicySearchAgent returns found=False, the Orchestrator automatically chains FallbackAgent. EscalationAgent is SEPARATE — only triggered by explicit escalation intent.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40000"/>
                </a:solidFill>
              </a:rPr>
              <a:t>Note: EscalationAgent is NOT part of the self-healing chain. It runs only when QueryClassifierAgent detects 'escalation' intent.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31720"/>
            <a:ext cx="457200" cy="5303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42316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1. PolicySearchAgent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23232"/>
                </a:solidFill>
              </a:rPr>
              <a:t>Keyword scoring returns score=0 across all 5 policies → found=False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457200" cy="530352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0632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2. OrchestratorAgent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735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23232"/>
                </a:solidFill>
              </a:rPr>
              <a:t>Detects found=False → automatically invokes FallbackAgent (self-healing)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11879"/>
            <a:ext cx="457200" cy="530352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70332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11879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3. FallbackAgent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13631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23232"/>
                </a:solidFill>
              </a:rPr>
              <a:t>Calls cross_reference() at low threshold (score &gt; 0) for partial match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51959"/>
            <a:ext cx="457200" cy="530352"/>
          </a:xfrm>
          <a:prstGeom prst="rect">
            <a:avLst/>
          </a:prstGeom>
          <a:solidFill>
            <a:srgbClr val="B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343399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51959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4. escalation_hook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537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23232"/>
                </a:solidFill>
              </a:rPr>
              <a:t>Fires because found=False AND escalated=False → logs to unresolved_queries.log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892040"/>
            <a:ext cx="457200" cy="530352"/>
          </a:xfrm>
          <a:prstGeom prst="rect">
            <a:avLst/>
          </a:prstGeom>
          <a:solidFill>
            <a:srgbClr val="00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983479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5. AuditLoggerAgent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937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23232"/>
                </a:solidFill>
              </a:rPr>
              <a:t>Logs query + fallback status to query_audit.log (runs after every query type)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532120"/>
            <a:ext cx="457200" cy="5303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5623559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32120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6. post_answer_hook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338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23232"/>
                </a:solidFill>
              </a:rPr>
              <a:t>Logs response time to session_events.log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6172199"/>
            <a:ext cx="457200" cy="5303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263639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172199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</a:rPr>
              <a:t>7. UI displays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473951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23232"/>
                </a:solidFill>
              </a:rPr>
              <a:t>Warning box + contact details + FallbackAgent chip shown to employee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KEYWORD_MAP — The Scoring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3366"/>
                </a:solidFill>
              </a:rPr>
              <a:t>Location: utils/knowledge_base.py  |  The single data structure that drives ALL policy matching across every agent.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91640"/>
            <a:ext cx="3749039" cy="19202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7647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🏠 Loan Policy
LP-001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04872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loan, borrow, mortgage, personal loan, home loan, auto loan, credit score, prepayment, tenure, emi, disbursement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691640"/>
            <a:ext cx="3749039" cy="1920240"/>
          </a:xfrm>
          <a:prstGeom prst="rect">
            <a:avLst/>
          </a:prstGeom>
          <a:solidFill>
            <a:srgbClr val="64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7647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🪪 KYC Policy
KYC-002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2404872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kyc, know your customer, identity, verification, id proof, address proof, passport, driver license, aml, due diligence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691640"/>
            <a:ext cx="3749039" cy="1920240"/>
          </a:xfrm>
          <a:prstGeom prst="rect">
            <a:avLst/>
          </a:prstGeom>
          <a:solidFill>
            <a:srgbClr val="B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647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📣 Complaint Policy
CCP-003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04872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complaint, complain, grievance, dispute, escalate, feedback, resolution, refund, compensation, ombudsman, service complaint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94760"/>
            <a:ext cx="3749039" cy="1920240"/>
          </a:xfrm>
          <a:prstGeom prst="rect">
            <a:avLst/>
          </a:prstGeom>
          <a:solidFill>
            <a:srgbClr val="008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86791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💳 Credit Card
CCP-004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07992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credit card, card, billing, statement, credit limit, reward, cashback, annual fee, lost card, minimum payment, apr, chargeback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794760"/>
            <a:ext cx="3749039" cy="1920240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386791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🏦 Account Opening
AOP-005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4507992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account, open account, savings, current account, fixed deposit, joint account, minimum balance, debit card, dormant, cheque book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Governance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3749039" cy="219456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749039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533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No 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74519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No customer data processed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377439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Queries cleared on session close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88036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No external API or internet calls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80160"/>
            <a:ext cx="3749039" cy="219456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280160"/>
            <a:ext cx="3749039" cy="502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3533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Source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874519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Answers verbatim from approved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77439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POLICY_DISPLAY_NAMES canonical in format_skill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88036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No hallucination possible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749039" cy="219456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749039" cy="502920"/>
          </a:xfrm>
          <a:prstGeom prst="rect">
            <a:avLst/>
          </a:prstGeom>
          <a:solidFill>
            <a:srgbClr val="008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3533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🛡️ Agent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874519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All agents: read-only on policies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377439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Only AuditLoggerAgent writes 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88036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utils/agent.py is deprecated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49039"/>
            <a:ext cx="3749039" cy="219456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749039"/>
            <a:ext cx="3749039" cy="502920"/>
          </a:xfrm>
          <a:prstGeom prst="rect">
            <a:avLst/>
          </a:prstGeom>
          <a:solidFill>
            <a:srgbClr val="B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822191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Risk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434340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14 compliance risk keywords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8463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compliance_alert_hook fires on 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534924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Logged + warning banner shown in 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749039"/>
            <a:ext cx="3749039" cy="219456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3749039"/>
            <a:ext cx="3749039" cy="502920"/>
          </a:xfrm>
          <a:prstGeom prst="rect">
            <a:avLst/>
          </a:prstGeom>
          <a:solidFill>
            <a:srgbClr val="00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79" y="3822191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🔄 Audit 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34340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query_audit.log (every query)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8463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unresolved_queries.log (fallbacks)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534924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session_events.log (all events)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3749039"/>
            <a:ext cx="3749039" cy="219456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3749039"/>
            <a:ext cx="3749039" cy="502920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822191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👥 Access 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34340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Internal intranet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8463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Policy owners update .txt files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534924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• IT controls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Testing &amp; Evaluation — 49 Tests, 100% 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560320" cy="1645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5FF"/>
                </a:solidFill>
              </a:rPr>
              <a:t>Total 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280160"/>
            <a:ext cx="2560320" cy="1645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5FF"/>
                </a:solidFill>
              </a:rPr>
              <a:t>Passed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2560320" cy="1645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5FF"/>
                </a:solidFill>
              </a:rPr>
              <a:t>Failed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280160"/>
            <a:ext cx="2560320" cy="1645920"/>
          </a:xfrm>
          <a:prstGeom prst="rect">
            <a:avLst/>
          </a:prstGeom>
          <a:solidFill>
            <a:srgbClr val="008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371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5FF"/>
                </a:solidFill>
              </a:rPr>
              <a:t>Pass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By Category: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6118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✅  PolicySearchAgent (5 domains): 5/5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6118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✅  QueryClassifierAgent: 6/6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6118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✅  MultiPolicyAgent (incl. single): 4/4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2519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✅  SummaryAgent (incl. fallback path): 4/4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2519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✅  EscalationAgent: 4/4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2519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✅  FallbackAgent: 5/5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920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✅  AuditLoggerAgent methods: 2/2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8920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✅  All 6 Hooks: 6/6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8920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232"/>
                </a:solidFill>
              </a:rPr>
              <a:t>✅  Compliance Risk: 3/3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486400" cy="155448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⏱️ 95% Faster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3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</a:rPr>
              <a:t>Policy lookup: 5-10 min → under 30 sec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86400" cy="155448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533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✅ Consistent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3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</a:rPr>
              <a:t>All employees get identical approved answers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5486400" cy="155448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5486400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906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🤖 7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76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</a:rPr>
              <a:t>Classify, search, merge, summarise, escalate, heal, audit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017520"/>
            <a:ext cx="5486400" cy="155448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017520"/>
            <a:ext cx="5486400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0906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📉 Risk Reduced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6576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</a:rPr>
              <a:t>14 compliance keywords auto-flagged in real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54879"/>
            <a:ext cx="5486400" cy="155448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754879"/>
            <a:ext cx="5486400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1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📧 Auto Escalation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9495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</a:rPr>
              <a:t>Draft email generated — no manual drafting needed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754879"/>
            <a:ext cx="5486400" cy="155448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754879"/>
            <a:ext cx="5486400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828031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🔒 Zero Data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39495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</a:rPr>
              <a:t>No PII, no internet, no external APIs, offline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0" y="45720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</a:rPr>
              <a:t>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CE5FF"/>
                </a:solidFill>
              </a:rPr>
              <a:t>Internal Bank Employee Assistant — Multi-Agent Capstone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C107"/>
                </a:solidFill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5FF"/>
                </a:solidFill>
              </a:rPr>
              <a:t>7 Agents  •  3 Skills  •  6 Hooks  •  KEYWORD_MAP  •  3 Log Files  •  49 Tests  •  100% Pass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MCP &amp; Plugin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3366"/>
                </a:solidFill>
              </a:rPr>
              <a:t>mcp_server.py exposes the full NexaBank knowledge base as 5 MCP tools — usable by Claude Desktop, Claude Code, or any MCP-compatible AI agent.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32004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0195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search_policy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828800"/>
            <a:ext cx="8229600" cy="73152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93852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</a:rPr>
              <a:t>Keyword search → best-matching policy snippet + source badge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97480"/>
            <a:ext cx="32004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7063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list_policies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697480"/>
            <a:ext cx="8229600" cy="73152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80720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</a:rPr>
              <a:t>Returns all 5 policy names, codes and sample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32004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3931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get_policy_full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3566160"/>
            <a:ext cx="8229600" cy="73152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3675887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</a:rPr>
              <a:t>Returns complete policy text by code (LP-001 … AOP-005)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34840"/>
            <a:ext cx="32004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0799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cross_reference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4434840"/>
            <a:ext cx="8229600" cy="73152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454456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</a:rPr>
              <a:t>Finds ALL policies matching a multi-domain question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03520"/>
            <a:ext cx="32004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7667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check_compliance_risk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5303520"/>
            <a:ext cx="8229600" cy="73152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54132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</a:rPr>
              <a:t>Screens question against 14 compliance risk keywords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66CC"/>
                </a:solidFill>
              </a:rPr>
              <a:t>Protocol: MCP JSON-RPC 2.0 over stdio  |  Config: claude_mcp_config.json  |  Both Streamlit UI &amp; MCP share the same knowledge base + KEYWORD_MAP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Observability &amp;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3366"/>
                </a:solidFill>
              </a:rPr>
              <a:t>Every query is fully traceable — from input validation to final answer — across 3 structured log files and 6 lifecycle hooks.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256032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📋 query_audit.log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107"/>
                </a:solidFill>
              </a:rPr>
              <a:t>Every query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828800"/>
            <a:ext cx="8869680" cy="109728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2057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</a:rPr>
              <a:t>Timestamp · Session ID · STATUS (MATCHED/FALLBACK) · Policy matched · Question 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00400"/>
            <a:ext cx="256032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⚠️ unresolved_queries.log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94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107"/>
                </a:solidFill>
              </a:rPr>
              <a:t>Fallback queries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3200400"/>
            <a:ext cx="8869680" cy="109728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34290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</a:rPr>
              <a:t>Timestamp · Session ID · UNRESOLVED · Full question — for compliance gap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572000"/>
            <a:ext cx="256032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663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🔄 session_events.log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166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107"/>
                </a:solidFill>
              </a:rPr>
              <a:t>All events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4572000"/>
            <a:ext cx="8869680" cy="109728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48006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</a:rPr>
              <a:t>PRE_QUERY · POST_ANSWER · SESSION_START/END · ESCALATION · COMPLIANCE_ALERT — full lifecycle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0807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23232"/>
                </a:solidFill>
              </a:rPr>
              <a:t>Answer Traceability: Every answer is a verbatim extract from policy text — can be traced back to the exact file and line.  AuditLoggerAgent runs silently after EVERY query type (policy, summary, escalation, fallback).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8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Load Testing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3366"/>
                </a:solidFill>
              </a:rPr>
              <a:t>Real load test: 60 tasks · 10 concurrent workers · 3 iterations of all 20 question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3749039" cy="1828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718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Errors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828800"/>
            <a:ext cx="3749039" cy="1828800"/>
          </a:xfrm>
          <a:prstGeom prst="rect">
            <a:avLst/>
          </a:prstGeom>
          <a:solidFill>
            <a:srgbClr val="008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9659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90.0%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29718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Answer Found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828800"/>
            <a:ext cx="3749039" cy="1828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659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8.78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9718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Median Latency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3749039" cy="1828800"/>
          </a:xfrm>
          <a:prstGeom prst="rect">
            <a:avLst/>
          </a:prstGeom>
          <a:solidFill>
            <a:srgbClr val="00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0690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30.33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749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p99 Latency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931920"/>
            <a:ext cx="3749039" cy="1828800"/>
          </a:xfrm>
          <a:prstGeom prst="rect">
            <a:avLst/>
          </a:prstGeom>
          <a:solidFill>
            <a:srgbClr val="64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40690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693.0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50749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Requests / sec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931920"/>
            <a:ext cx="3749039" cy="1828800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690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60/60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0749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Tasks 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23232"/>
                </a:solidFill>
              </a:rPr>
              <a:t>Min: 4.29 ms  ·  Mean: 9.85 ms  ·  p95: 16.5 ms  ·  Max: 30.33 ms  ·  Wall clock: 0.087 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3366"/>
                </a:solidFill>
              </a:rPr>
              <a:t>Three deployment modes — all sharing the same offline knowledge base. No cloud dependency. No external APIs. Runs on any internal server.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920240"/>
            <a:ext cx="283464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Option A
Local Deploy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3017520"/>
            <a:ext cx="2834640" cy="100584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3063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3366"/>
                </a:solidFill>
              </a:rPr>
              <a:t>streamlit run app.py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4160520"/>
            <a:ext cx="2834640" cy="10972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2062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</a:rPr>
              <a:t>Single user  ·  http://localhost:8501
Py 3.10+  ·  streamlit&gt;=1.32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2" y="1920240"/>
            <a:ext cx="2834640" cy="914400"/>
          </a:xfrm>
          <a:prstGeom prst="rect">
            <a:avLst/>
          </a:prstGeom>
          <a:solidFill>
            <a:srgbClr val="00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9659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Option B
Docker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3017520"/>
            <a:ext cx="2834640" cy="100584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3552" y="3063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3366"/>
                </a:solidFill>
              </a:rPr>
              <a:t>docker build -t bank-assistant .
docker run -p 8501:8501 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82112" y="4160520"/>
            <a:ext cx="2834640" cy="10972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3552" y="42062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</a:rPr>
              <a:t>Isolated container  ·  Any OS
FROM python:3.11-slim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920240"/>
            <a:ext cx="283464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3" y="19659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Option C
Network / Team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3017520"/>
            <a:ext cx="2834640" cy="100584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3" y="3063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3366"/>
                </a:solidFill>
              </a:rPr>
              <a:t>streamlit run app.py
--server.address=0.0.0.0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4160520"/>
            <a:ext cx="2834640" cy="10972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3" y="42062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</a:rPr>
              <a:t>Team access  ·  http://&lt;ip&gt;:8501
Intranet firewall required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0576" y="1920240"/>
            <a:ext cx="2834640" cy="914400"/>
          </a:xfrm>
          <a:prstGeom prst="rect">
            <a:avLst/>
          </a:prstGeom>
          <a:solidFill>
            <a:srgbClr val="64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5" y="19659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Option D
MCP Server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576" y="3017520"/>
            <a:ext cx="2834640" cy="100584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72015" y="3063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3366"/>
                </a:solidFill>
              </a:rPr>
              <a:t>python mcp_server.py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0576" y="4160520"/>
            <a:ext cx="2834640" cy="10972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2015" y="42062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</a:rPr>
              <a:t>AI agent access  ·  stdio transport
Claude Desktop / Claude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4864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66CC"/>
                </a:solidFill>
              </a:rPr>
              <a:t>All modes share: policies/*.txt  ·  KEYWORD_MAP  ·  7 Subagents  ·  3 Skills  ·  6 Hooks  ·  3 Log Files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6126480"/>
            <a:ext cx="2834640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199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Python  3.10+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73551" y="6126480"/>
            <a:ext cx="2834640" cy="502920"/>
          </a:xfrm>
          <a:prstGeom prst="rect">
            <a:avLst/>
          </a:prstGeom>
          <a:solidFill>
            <a:srgbClr val="00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64991" y="6199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RAM  512 MB+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72783" y="6126480"/>
            <a:ext cx="2834640" cy="502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4224" y="6199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Disk  100 MB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72016" y="6126480"/>
            <a:ext cx="2834640" cy="502920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63456" y="6199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Network  LAN (optional)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Screenshots of Results</a:t>
            </a:r>
          </a:p>
        </p:txBody>
      </p:sp>
      <p:pic>
        <p:nvPicPr>
          <p:cNvPr id="4" name="Picture 3" descr="sc9_app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34440"/>
            <a:ext cx="3566160" cy="1508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77063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3366"/>
                </a:solidFill>
              </a:rPr>
              <a:t>App Home</a:t>
            </a:r>
          </a:p>
        </p:txBody>
      </p:sp>
      <p:pic>
        <p:nvPicPr>
          <p:cNvPr id="6" name="Picture 5" descr="sc1_loan_policy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1" y="1234440"/>
            <a:ext cx="3566160" cy="1508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50791" y="277063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3366"/>
                </a:solidFill>
              </a:rPr>
              <a:t>Loan Policy Search</a:t>
            </a:r>
          </a:p>
        </p:txBody>
      </p:sp>
      <p:pic>
        <p:nvPicPr>
          <p:cNvPr id="8" name="Picture 7" descr="sc2_kyc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3" y="1234440"/>
            <a:ext cx="3566160" cy="1508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72983" y="277063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3366"/>
                </a:solidFill>
              </a:rPr>
              <a:t>KYC Search</a:t>
            </a:r>
          </a:p>
        </p:txBody>
      </p:sp>
      <p:pic>
        <p:nvPicPr>
          <p:cNvPr id="10" name="Picture 9" descr="sc3_multi_poli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218688"/>
            <a:ext cx="3566160" cy="1508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600" y="47548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3366"/>
                </a:solidFill>
              </a:rPr>
              <a:t>Multi-Policy</a:t>
            </a:r>
          </a:p>
        </p:txBody>
      </p:sp>
      <p:pic>
        <p:nvPicPr>
          <p:cNvPr id="12" name="Picture 11" descr="sc4_summ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0791" y="3218688"/>
            <a:ext cx="3566160" cy="1508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50791" y="47548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3366"/>
                </a:solidFill>
              </a:rPr>
              <a:t>Policy Summary</a:t>
            </a:r>
          </a:p>
        </p:txBody>
      </p:sp>
      <p:pic>
        <p:nvPicPr>
          <p:cNvPr id="14" name="Picture 13" descr="sc5_escal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2983" y="3218688"/>
            <a:ext cx="3566160" cy="1508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72983" y="47548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3366"/>
                </a:solidFill>
              </a:rPr>
              <a:t>Escalation</a:t>
            </a:r>
          </a:p>
        </p:txBody>
      </p:sp>
      <p:pic>
        <p:nvPicPr>
          <p:cNvPr id="16" name="Picture 15" descr="sc6_compliance_ale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5202936"/>
            <a:ext cx="3566160" cy="1508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" y="673912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3366"/>
                </a:solidFill>
              </a:rPr>
              <a:t>Compliance Alert</a:t>
            </a:r>
          </a:p>
        </p:txBody>
      </p:sp>
      <p:pic>
        <p:nvPicPr>
          <p:cNvPr id="18" name="Picture 17" descr="sc7_fallback_selfh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0791" y="5202936"/>
            <a:ext cx="3566160" cy="1508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050791" y="673912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3366"/>
                </a:solidFill>
              </a:rPr>
              <a:t>Self-Healing Fallback</a:t>
            </a:r>
          </a:p>
        </p:txBody>
      </p:sp>
      <p:pic>
        <p:nvPicPr>
          <p:cNvPr id="20" name="Picture 19" descr="sc8_account_open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2983" y="5202936"/>
            <a:ext cx="3566160" cy="1508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872983" y="673912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3366"/>
                </a:solidFill>
              </a:rPr>
              <a:t>Account Opening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