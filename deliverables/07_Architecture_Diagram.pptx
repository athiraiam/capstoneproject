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40312" y="0"/>
            <a:ext cx="54864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68880"/>
            <a:ext cx="12188952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434840"/>
            <a:ext cx="12188952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4572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Internal Bank Employee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488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</a:rPr>
              <a:t>Architecture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33472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FF"/>
                </a:solidFill>
              </a:rPr>
              <a:t>Multi-Agent AI System  |  NexaBank Internal Division  |  Capstone v2.0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337560"/>
            <a:ext cx="1691640" cy="402336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3364991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Python 3.10+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95728" y="3337560"/>
            <a:ext cx="1691640" cy="402336"/>
          </a:xfrm>
          <a:prstGeom prst="roundRect">
            <a:avLst>
              <a:gd name="adj" fmla="val 5000"/>
            </a:avLst>
          </a:prstGeom>
          <a:solidFill>
            <a:srgbClr val="00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32304" y="3364991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Streamlit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97096" y="3337560"/>
            <a:ext cx="1691640" cy="402336"/>
          </a:xfrm>
          <a:prstGeom prst="roundRect">
            <a:avLst>
              <a:gd name="adj" fmla="val 5000"/>
            </a:avLst>
          </a:prstGeom>
          <a:solidFill>
            <a:srgbClr val="64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3364991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 Subagents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8464" y="3337560"/>
            <a:ext cx="1691640" cy="402336"/>
          </a:xfrm>
          <a:prstGeom prst="roundRect">
            <a:avLst>
              <a:gd name="adj" fmla="val 5000"/>
            </a:avLst>
          </a:prstGeom>
          <a:solidFill>
            <a:srgbClr val="00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364991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 Skill Modules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9831" y="3337560"/>
            <a:ext cx="1691640" cy="402336"/>
          </a:xfrm>
          <a:prstGeom prst="roundRect">
            <a:avLst>
              <a:gd name="adj" fmla="val 5000"/>
            </a:avLst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36407" y="3364991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 Lifecycle Hooks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3337560"/>
            <a:ext cx="1691640" cy="402336"/>
          </a:xfrm>
          <a:prstGeom prst="roundRect">
            <a:avLst>
              <a:gd name="adj" fmla="val 5000"/>
            </a:avLst>
          </a:prstGeom>
          <a:solidFill>
            <a:srgbClr val="B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7776" y="3364991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Offline / No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319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What's Inside: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97680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  Slide 2:  Full System Architecture — 6-layer stack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27448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  Slide 3:  Agent Layer — OrchestratorAgent routing decision tree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157216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  Slide 4:  End-to-End Data Flow — Single query through all 9 pipeline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86984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  Slide 5:  Skills × Agents Matrix + Hook Lifecycle timeline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6016752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  Slide 6:  Self-Healing Workflow — FallbackAgent auto-chain deep-dive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Full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E5FF"/>
                </a:solidFill>
              </a:rPr>
              <a:t>6-Layer Stack  |  Streamlit UI → Orchestrator → Agents → Skills → Knowledge Base → Audit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70432"/>
            <a:ext cx="11859768" cy="877824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170432"/>
            <a:ext cx="1417320" cy="8778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" y="1472184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LAYER 1 —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2112264"/>
            <a:ext cx="11859768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" y="2112264"/>
            <a:ext cx="1417320" cy="658368"/>
          </a:xfrm>
          <a:prstGeom prst="rect">
            <a:avLst/>
          </a:prstGeom>
          <a:solidFill>
            <a:srgbClr val="0A1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" y="2304288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LAYER 2 — 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2834640"/>
            <a:ext cx="11859768" cy="1417320"/>
          </a:xfrm>
          <a:prstGeom prst="rect">
            <a:avLst/>
          </a:prstGeom>
          <a:solidFill>
            <a:srgbClr val="EB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" y="2834640"/>
            <a:ext cx="1417320" cy="1417320"/>
          </a:xfrm>
          <a:prstGeom prst="rect">
            <a:avLst/>
          </a:prstGeom>
          <a:solidFill>
            <a:srgbClr val="640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" y="340614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LAYER 3 — AGENTS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4315968"/>
            <a:ext cx="11859768" cy="749808"/>
          </a:xfrm>
          <a:prstGeom prst="rect">
            <a:avLst/>
          </a:prstGeom>
          <a:solidFill>
            <a:srgbClr val="D2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4592" y="4315968"/>
            <a:ext cx="1417320" cy="749808"/>
          </a:xfrm>
          <a:prstGeom prst="rect">
            <a:avLst/>
          </a:prstGeom>
          <a:solidFill>
            <a:srgbClr val="00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" y="4553712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LAYER 4 — SKILLS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5129784"/>
            <a:ext cx="11859768" cy="658368"/>
          </a:xfrm>
          <a:prstGeom prst="rect">
            <a:avLst/>
          </a:prstGeom>
          <a:solidFill>
            <a:srgbClr val="FF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" y="5129784"/>
            <a:ext cx="1417320" cy="658368"/>
          </a:xfrm>
          <a:prstGeom prst="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" y="5321808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LAYER 5 — KNOWLEDGE 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5852160"/>
            <a:ext cx="11859768" cy="804672"/>
          </a:xfrm>
          <a:prstGeom prst="rect">
            <a:avLst/>
          </a:prstGeom>
          <a:solidFill>
            <a:srgbClr val="C8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4592" y="5852160"/>
            <a:ext cx="1417320" cy="804672"/>
          </a:xfrm>
          <a:prstGeom prst="rect">
            <a:avLst/>
          </a:prstGeom>
          <a:solidFill>
            <a:srgbClr val="00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" y="6117336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LAYER 6 — AUDIT LOGS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37360" y="1207008"/>
            <a:ext cx="2926080" cy="749808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1243584"/>
            <a:ext cx="2834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app.py</a:t>
            </a:r>
          </a:p>
          <a:p>
            <a:pPr algn="ctr"/>
            <a:r>
              <a:rPr sz="900" i="1">
                <a:solidFill>
                  <a:srgbClr val="CCE5FF"/>
                </a:solidFill>
              </a:rPr>
              <a:t>Streamlit Chat UI  |  Session State  |  st.cache_resource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1207008"/>
            <a:ext cx="2286000" cy="749808"/>
          </a:xfrm>
          <a:prstGeom prst="roundRect">
            <a:avLst>
              <a:gd name="adj" fmla="val 5000"/>
            </a:avLst>
          </a:prstGeom>
          <a:solidFill>
            <a:srgbClr val="00823C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1243584"/>
            <a:ext cx="21945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SVG Logos + Badges</a:t>
            </a:r>
          </a:p>
          <a:p>
            <a:pPr algn="ctr"/>
            <a:r>
              <a:rPr sz="900" i="1">
                <a:solidFill>
                  <a:srgbClr val="D2F0DC"/>
                </a:solidFill>
              </a:rPr>
              <a:t>Sidebar  |  Agent Chips  |  Policy Badges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207008"/>
            <a:ext cx="3017520" cy="749808"/>
          </a:xfrm>
          <a:prstGeom prst="roundRect">
            <a:avLst>
              <a:gd name="adj" fmla="val 5000"/>
            </a:avLst>
          </a:prstGeom>
          <a:solidFill>
            <a:srgbClr val="006E6E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1243584"/>
            <a:ext cx="29260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Audit Log Viewer</a:t>
            </a:r>
          </a:p>
          <a:p>
            <a:pPr algn="ctr"/>
            <a:r>
              <a:rPr sz="900" i="1">
                <a:solidFill>
                  <a:srgbClr val="C8F0EE"/>
                </a:solidFill>
              </a:rPr>
              <a:t>read_audit_log()  |  Last N lines  |  3 log files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37360" y="2148840"/>
            <a:ext cx="9601200" cy="566928"/>
          </a:xfrm>
          <a:prstGeom prst="roundRect">
            <a:avLst>
              <a:gd name="adj" fmla="val 5000"/>
            </a:avLst>
          </a:prstGeom>
          <a:solidFill>
            <a:srgbClr val="0A1946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2176272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107"/>
                </a:solidFill>
              </a:rPr>
              <a:t>OrchestratorAgent  —  Session Coordinator  |  Routing Engine  |  Hook Dispatcher  |  Self-Healing Controller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91640" y="2889504"/>
            <a:ext cx="1280160" cy="1298448"/>
          </a:xfrm>
          <a:prstGeom prst="roundRect">
            <a:avLst>
              <a:gd name="adj" fmla="val 5000"/>
            </a:avLst>
          </a:prstGeom>
          <a:solidFill>
            <a:srgbClr val="00823C"/>
          </a:solidFill>
          <a:ln w="127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46504" y="2926080"/>
            <a:ext cx="1170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QueryClassifier
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46504" y="3611880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E5FF"/>
                </a:solidFill>
              </a:rPr>
              <a:t>SubAgent 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331720" y="2715768"/>
            <a:ext cx="0" cy="173736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081528" y="2889504"/>
            <a:ext cx="1280160" cy="1298448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 w="127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36392" y="2926080"/>
            <a:ext cx="1170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PolicySearch
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36392" y="3611880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E5FF"/>
                </a:solidFill>
              </a:rPr>
              <a:t>SubAgent 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721608" y="2715768"/>
            <a:ext cx="0" cy="173736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471416" y="2889504"/>
            <a:ext cx="1280160" cy="1298448"/>
          </a:xfrm>
          <a:prstGeom prst="roundRect">
            <a:avLst>
              <a:gd name="adj" fmla="val 5000"/>
            </a:avLst>
          </a:prstGeom>
          <a:solidFill>
            <a:srgbClr val="6400A0"/>
          </a:solidFill>
          <a:ln w="127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79" y="2926080"/>
            <a:ext cx="1170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MultiPolicy
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79" y="3611880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E5FF"/>
                </a:solidFill>
              </a:rPr>
              <a:t>SubAgent 3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111496" y="2715768"/>
            <a:ext cx="0" cy="173736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861304" y="2889504"/>
            <a:ext cx="1280160" cy="1298448"/>
          </a:xfrm>
          <a:prstGeom prst="roundRect">
            <a:avLst>
              <a:gd name="adj" fmla="val 5000"/>
            </a:avLst>
          </a:prstGeom>
          <a:solidFill>
            <a:srgbClr val="6400A0"/>
          </a:solidFill>
          <a:ln w="127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16168" y="2926080"/>
            <a:ext cx="1170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Summary
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16168" y="3611880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E5FF"/>
                </a:solidFill>
              </a:rPr>
              <a:t>SubAgent 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01384" y="2715768"/>
            <a:ext cx="0" cy="173736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251192" y="2889504"/>
            <a:ext cx="1280160" cy="1298448"/>
          </a:xfrm>
          <a:prstGeom prst="roundRect">
            <a:avLst>
              <a:gd name="adj" fmla="val 5000"/>
            </a:avLst>
          </a:prstGeom>
          <a:solidFill>
            <a:srgbClr val="B40000"/>
          </a:solidFill>
          <a:ln w="127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06055" y="2926080"/>
            <a:ext cx="1170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Escalation
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06055" y="3611880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E5FF"/>
                </a:solidFill>
              </a:rPr>
              <a:t>SubAgent 5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891271" y="2715768"/>
            <a:ext cx="0" cy="173736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641080" y="2889504"/>
            <a:ext cx="1280160" cy="1298448"/>
          </a:xfrm>
          <a:prstGeom prst="roundRect">
            <a:avLst>
              <a:gd name="adj" fmla="val 5000"/>
            </a:avLst>
          </a:prstGeom>
          <a:solidFill>
            <a:srgbClr val="B45000"/>
          </a:solidFill>
          <a:ln w="127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95944" y="2926080"/>
            <a:ext cx="1170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Fallback
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95944" y="3611880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E5FF"/>
                </a:solidFill>
              </a:rPr>
              <a:t>SubAgent 6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281159" y="2715768"/>
            <a:ext cx="0" cy="173736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0030968" y="2889504"/>
            <a:ext cx="1280160" cy="1298448"/>
          </a:xfrm>
          <a:prstGeom prst="roundRect">
            <a:avLst>
              <a:gd name="adj" fmla="val 5000"/>
            </a:avLst>
          </a:prstGeom>
          <a:solidFill>
            <a:srgbClr val="006E6E"/>
          </a:solidFill>
          <a:ln w="127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85832" y="2926080"/>
            <a:ext cx="1170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AuditLogger
Agent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85832" y="3611880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E5FF"/>
                </a:solidFill>
              </a:rPr>
              <a:t>SubAgent 7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0671048" y="2715768"/>
            <a:ext cx="0" cy="173736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1737360" y="4352544"/>
            <a:ext cx="278892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10512" y="437997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232"/>
                </a:solidFill>
              </a:rPr>
              <a:t>search_skill.py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10512" y="462686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878"/>
                </a:solidFill>
              </a:rPr>
              <a:t>search_policy()  •  extract_keywords()  •  cross_reference()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754880" y="4352544"/>
            <a:ext cx="278892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28032" y="437997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232"/>
                </a:solidFill>
              </a:rPr>
              <a:t>format_skill.py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28032" y="462686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878"/>
                </a:solidFill>
              </a:rPr>
              <a:t>POLICY_DISPLAY_NAMES  •  format_answer()  •  summarize_policy()  •  generate_escalation_email()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772400" y="4352544"/>
            <a:ext cx="278892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45552" y="437997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232"/>
                </a:solidFill>
              </a:rPr>
              <a:t>audit_skill.py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45552" y="462686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878"/>
                </a:solidFill>
              </a:rPr>
              <a:t>log_query()  •  log_unresolved()  •  log_session_event()  •  detect_compliance_risk()  •  read_audit_log()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737360" y="5166360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01368" y="518464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23232"/>
                </a:solidFill>
              </a:rPr>
              <a:t>loan_policy.txt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01368" y="5413248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787878"/>
                </a:solidFill>
              </a:rPr>
              <a:t>LP-001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785616" y="5166360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49624" y="518464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23232"/>
                </a:solidFill>
              </a:rPr>
              <a:t>kyc_policy.txt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49624" y="5413248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787878"/>
                </a:solidFill>
              </a:rPr>
              <a:t>KYC-002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833872" y="5166360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97880" y="518464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23232"/>
                </a:solidFill>
              </a:rPr>
              <a:t>customer_complaint_policy.txt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97880" y="5413248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787878"/>
                </a:solidFill>
              </a:rPr>
              <a:t>CCP-003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882128" y="5166360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46136" y="518464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23232"/>
                </a:solidFill>
              </a:rPr>
              <a:t>credit_card_policy.txt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46136" y="5413248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787878"/>
                </a:solidFill>
              </a:rPr>
              <a:t>CCP-004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930384" y="5166360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994392" y="518464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23232"/>
                </a:solidFill>
              </a:rPr>
              <a:t>account_opening_policy.txt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94392" y="5413248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787878"/>
                </a:solidFill>
              </a:rPr>
              <a:t>AOP-005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737360" y="5166360"/>
            <a:ext cx="0" cy="0"/>
          </a:xfrm>
          <a:prstGeom prst="roundRect">
            <a:avLst>
              <a:gd name="adj" fmla="val 5000"/>
            </a:avLst>
          </a:prstGeom>
          <a:solidFill>
            <a:srgbClr val="FFE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332720" y="516636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FFEBC8"/>
          </a:solidFill>
          <a:ln w="190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78440" y="518464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B45000"/>
                </a:solidFill>
              </a:rPr>
              <a:t>utils/
KEYWORD_MAP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737360" y="5888736"/>
            <a:ext cx="3246120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828800" y="590702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23232"/>
                </a:solidFill>
              </a:rPr>
              <a:t>query_audit.log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28800" y="615391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878"/>
                </a:solidFill>
              </a:rPr>
              <a:t>Every query  |  MATCHED / FALLBACK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138928" y="5888736"/>
            <a:ext cx="3246120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230368" y="590702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23232"/>
                </a:solidFill>
              </a:rPr>
              <a:t>unresolved_queries.log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230368" y="615391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878"/>
                </a:solidFill>
              </a:rPr>
              <a:t>found=False  |  escalation_hook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540496" y="5888736"/>
            <a:ext cx="3246120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31936" y="590702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23232"/>
                </a:solidFill>
              </a:rPr>
              <a:t>session_events.log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31936" y="615391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87878"/>
                </a:solidFill>
              </a:rPr>
              <a:t>All hooks  |  Timing  |  Alerts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332720" y="5888736"/>
            <a:ext cx="1554480" cy="676656"/>
          </a:xfrm>
          <a:prstGeom prst="roundRect">
            <a:avLst>
              <a:gd name="adj" fmla="val 5000"/>
            </a:avLst>
          </a:prstGeom>
          <a:solidFill>
            <a:srgbClr val="EBD7FF"/>
          </a:solidFill>
          <a:ln w="190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378440" y="5907024"/>
            <a:ext cx="1463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00A0"/>
                </a:solidFill>
              </a:rPr>
              <a:t>hooks.py
6 Hooks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926080" y="4187952"/>
            <a:ext cx="0" cy="164592"/>
          </a:xfrm>
          <a:prstGeom prst="line">
            <a:avLst/>
          </a:prstGeom>
          <a:ln w="15240">
            <a:solidFill>
              <a:srgbClr val="00823C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126480" y="4187952"/>
            <a:ext cx="0" cy="164592"/>
          </a:xfrm>
          <a:prstGeom prst="line">
            <a:avLst/>
          </a:prstGeom>
          <a:ln w="15240">
            <a:solidFill>
              <a:srgbClr val="6400A0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0716768" y="4187952"/>
            <a:ext cx="0" cy="164592"/>
          </a:xfrm>
          <a:prstGeom prst="line">
            <a:avLst/>
          </a:prstGeom>
          <a:ln w="15240">
            <a:solidFill>
              <a:srgbClr val="006E6E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108960" y="4992624"/>
            <a:ext cx="0" cy="173736"/>
          </a:xfrm>
          <a:prstGeom prst="line">
            <a:avLst/>
          </a:prstGeom>
          <a:ln w="15240">
            <a:solidFill>
              <a:srgbClr val="00823C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126480" y="4992624"/>
            <a:ext cx="0" cy="173736"/>
          </a:xfrm>
          <a:prstGeom prst="line">
            <a:avLst/>
          </a:prstGeom>
          <a:ln w="15240">
            <a:solidFill>
              <a:srgbClr val="6400A0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Agent Layer — OrchestratorAgent Routing &amp; Decision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E5FF"/>
                </a:solidFill>
              </a:rPr>
              <a:t>QueryClassifierAgent classifies intent → OrchestratorAgent applies routing rules → correct subagent invoked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234440"/>
            <a:ext cx="4572000" cy="749808"/>
          </a:xfrm>
          <a:prstGeom prst="roundRect">
            <a:avLst>
              <a:gd name="adj" fmla="val 5000"/>
            </a:avLst>
          </a:prstGeom>
          <a:solidFill>
            <a:srgbClr val="0A1946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26187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107"/>
                </a:solidFill>
              </a:rPr>
              <a:t>OrchestratorAgent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09344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E5FF"/>
                </a:solidFill>
              </a:rPr>
              <a:t>Session Coordinator  |  Routing Engine  |  Self-Healing 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389888"/>
            <a:ext cx="1828800" cy="475488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9903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pre_query_hook
Validates input first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57400" y="1627632"/>
            <a:ext cx="1783080" cy="0"/>
          </a:xfrm>
          <a:prstGeom prst="line">
            <a:avLst/>
          </a:prstGeom>
          <a:ln w="25400">
            <a:solidFill>
              <a:srgbClr val="0066CC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48840" y="14447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66CC"/>
                </a:solidFill>
              </a:rPr>
              <a:t>valid=True
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121408"/>
            <a:ext cx="4572000" cy="548640"/>
          </a:xfrm>
          <a:prstGeom prst="roundRect">
            <a:avLst>
              <a:gd name="adj" fmla="val 5000"/>
            </a:avLst>
          </a:prstGeom>
          <a:solidFill>
            <a:srgbClr val="00823C"/>
          </a:solidFill>
          <a:ln w="1905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148840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QueryClassifierAgent  (SubAgent 1)  —  Detects 4 Intents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0" y="1984248"/>
            <a:ext cx="0" cy="137160"/>
          </a:xfrm>
          <a:prstGeom prst="line">
            <a:avLst/>
          </a:prstGeom>
          <a:ln w="25400">
            <a:solidFill>
              <a:srgbClr val="00823C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4088" y="2816352"/>
            <a:ext cx="1426464" cy="530352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90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3464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00A0"/>
                </a:solidFill>
              </a:rPr>
              <a:t>summary
intent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7320" y="3346704"/>
            <a:ext cx="0" cy="173736"/>
          </a:xfrm>
          <a:prstGeom prst="line">
            <a:avLst/>
          </a:prstGeom>
          <a:ln w="22860">
            <a:solidFill>
              <a:srgbClr val="6400A0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2648" y="3520440"/>
            <a:ext cx="1609344" cy="822960"/>
          </a:xfrm>
          <a:prstGeom prst="roundRect">
            <a:avLst>
              <a:gd name="adj" fmla="val 5000"/>
            </a:avLst>
          </a:prstGeom>
          <a:solidFill>
            <a:srgbClr val="6400A0"/>
          </a:solidFill>
          <a:ln w="1905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3547872"/>
            <a:ext cx="1536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SummaryAgent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93192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E5FF"/>
                </a:solidFill>
              </a:rPr>
              <a:t>SubAgent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4407408"/>
            <a:ext cx="1609344" cy="566928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425696"/>
            <a:ext cx="15361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23232"/>
                </a:solidFill>
              </a:rPr>
              <a:t>POLICY_NAME_HINTS
→ summarize_policy()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90087" y="2816352"/>
            <a:ext cx="1426464" cy="530352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90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83464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0000"/>
                </a:solidFill>
              </a:rPr>
              <a:t>escalation
intent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03320" y="3346704"/>
            <a:ext cx="0" cy="173736"/>
          </a:xfrm>
          <a:prstGeom prst="line">
            <a:avLst/>
          </a:prstGeom>
          <a:ln w="22860">
            <a:solidFill>
              <a:srgbClr val="B40000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898648" y="3520440"/>
            <a:ext cx="1609344" cy="822960"/>
          </a:xfrm>
          <a:prstGeom prst="roundRect">
            <a:avLst>
              <a:gd name="adj" fmla="val 5000"/>
            </a:avLst>
          </a:prstGeom>
          <a:solidFill>
            <a:srgbClr val="B40000"/>
          </a:solidFill>
          <a:ln w="1905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35224" y="3547872"/>
            <a:ext cx="1536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EscalationAgent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5224" y="393192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E5FF"/>
                </a:solidFill>
              </a:rPr>
              <a:t>SubAgent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98648" y="4407408"/>
            <a:ext cx="1609344" cy="566928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35224" y="4425696"/>
            <a:ext cx="15361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23232"/>
                </a:solidFill>
              </a:rPr>
              <a:t>ESCALATION_CONTACTS
→ email draft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76088" y="2816352"/>
            <a:ext cx="1426464" cy="530352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283464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66CC"/>
                </a:solidFill>
              </a:rPr>
              <a:t>policy_query
single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89320" y="3346704"/>
            <a:ext cx="0" cy="173736"/>
          </a:xfrm>
          <a:prstGeom prst="line">
            <a:avLst/>
          </a:prstGeom>
          <a:ln w="22860">
            <a:solidFill>
              <a:srgbClr val="0066CC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184648" y="3520440"/>
            <a:ext cx="1609344" cy="822960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 w="1905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21224" y="3547872"/>
            <a:ext cx="1536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PolicySearchAgent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21224" y="393192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E5FF"/>
                </a:solidFill>
              </a:rPr>
              <a:t>SubAgent 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84648" y="4407408"/>
            <a:ext cx="1609344" cy="566928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21224" y="4425696"/>
            <a:ext cx="15361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23232"/>
                </a:solidFill>
              </a:rPr>
              <a:t>KEYWORD_MAP scoring
→ best match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07808" y="2816352"/>
            <a:ext cx="1426464" cy="530352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90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283464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00A0"/>
                </a:solidFill>
              </a:rPr>
              <a:t>policy_query
multi-domain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321040" y="3346704"/>
            <a:ext cx="0" cy="173736"/>
          </a:xfrm>
          <a:prstGeom prst="line">
            <a:avLst/>
          </a:prstGeom>
          <a:ln w="22860">
            <a:solidFill>
              <a:srgbClr val="6400A0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16367" y="3520440"/>
            <a:ext cx="1609344" cy="822960"/>
          </a:xfrm>
          <a:prstGeom prst="roundRect">
            <a:avLst>
              <a:gd name="adj" fmla="val 5000"/>
            </a:avLst>
          </a:prstGeom>
          <a:solidFill>
            <a:srgbClr val="6400A0"/>
          </a:solidFill>
          <a:ln w="1905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52944" y="3547872"/>
            <a:ext cx="1536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MultiPolicyAgent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52944" y="393192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E5FF"/>
                </a:solidFill>
              </a:rPr>
              <a:t>SubAgent 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16367" y="4407408"/>
            <a:ext cx="1609344" cy="566928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4425696"/>
            <a:ext cx="15361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23232"/>
                </a:solidFill>
              </a:rPr>
              <a:t>cross_reference()
top≥2 &amp; second≥1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85248" y="2816352"/>
            <a:ext cx="1426464" cy="530352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12680" y="283464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23232"/>
                </a:solidFill>
              </a:rPr>
              <a:t>out_of_
scope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698480" y="3346704"/>
            <a:ext cx="0" cy="173736"/>
          </a:xfrm>
          <a:prstGeom prst="line">
            <a:avLst/>
          </a:prstGeom>
          <a:ln w="22860">
            <a:solidFill>
              <a:srgbClr val="323232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893807" y="3520440"/>
            <a:ext cx="1609344" cy="822960"/>
          </a:xfrm>
          <a:prstGeom prst="roundRect">
            <a:avLst>
              <a:gd name="adj" fmla="val 5000"/>
            </a:avLst>
          </a:prstGeom>
          <a:solidFill>
            <a:srgbClr val="323232"/>
          </a:solidFill>
          <a:ln w="1905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30384" y="3547872"/>
            <a:ext cx="1536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Direct Fallback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30384" y="393192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E5FF"/>
                </a:solidFill>
              </a:rPr>
              <a:t>no subagent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93807" y="4407408"/>
            <a:ext cx="1609344" cy="566928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30384" y="4425696"/>
            <a:ext cx="15361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23232"/>
                </a:solidFill>
              </a:rPr>
              <a:t>Empty / &lt;3 chars
→ polite message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1417320" y="2670048"/>
            <a:ext cx="4709160" cy="146304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3703320" y="2670048"/>
            <a:ext cx="2423160" cy="146304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5989320" y="2670048"/>
            <a:ext cx="137160" cy="146304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126480" y="2670048"/>
            <a:ext cx="2194560" cy="146304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126480" y="2670048"/>
            <a:ext cx="4572000" cy="146304"/>
          </a:xfrm>
          <a:prstGeom prst="line">
            <a:avLst/>
          </a:prstGeom>
          <a:ln w="1524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6355080" y="5120640"/>
            <a:ext cx="1609344" cy="640080"/>
          </a:xfrm>
          <a:prstGeom prst="roundRect">
            <a:avLst>
              <a:gd name="adj" fmla="val 5000"/>
            </a:avLst>
          </a:prstGeom>
          <a:solidFill>
            <a:srgbClr val="B45000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0" y="5148072"/>
            <a:ext cx="15179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FallbackAgent
(SubAgent 6)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93992" y="4343400"/>
            <a:ext cx="0" cy="777240"/>
          </a:xfrm>
          <a:prstGeom prst="line">
            <a:avLst/>
          </a:prstGeom>
          <a:ln w="25400">
            <a:solidFill>
              <a:srgbClr val="B45000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858000" y="461772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45000"/>
                </a:solidFill>
              </a:rPr>
              <a:t>found=False
(self-heal)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012680" y="5120640"/>
            <a:ext cx="1609344" cy="640080"/>
          </a:xfrm>
          <a:prstGeom prst="roundRect">
            <a:avLst>
              <a:gd name="adj" fmla="val 5000"/>
            </a:avLst>
          </a:prstGeom>
          <a:solidFill>
            <a:srgbClr val="006E6E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0" y="5148072"/>
            <a:ext cx="15179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AuditLogger
Agent (SubAgent 7)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5285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006E6E"/>
                </a:solidFill>
              </a:rPr>
              <a:t>← runs after EVERY query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4592" y="5943600"/>
            <a:ext cx="11859768" cy="713232"/>
          </a:xfrm>
          <a:prstGeom prst="rect">
            <a:avLst/>
          </a:prstGeom>
          <a:solidFill>
            <a:srgbClr val="C8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5961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E6E"/>
                </a:solidFill>
              </a:rPr>
              <a:t>🪝  Hooks (auto-fired — not routed by Orchestrator):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566160" y="6035040"/>
            <a:ext cx="1389888" cy="301752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02736" y="6062472"/>
            <a:ext cx="13167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pre_query_hook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10912" y="6035040"/>
            <a:ext cx="1389888" cy="301752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47488" y="6062472"/>
            <a:ext cx="13167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post_answer_hook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55664" y="6035040"/>
            <a:ext cx="1389888" cy="301752"/>
          </a:xfrm>
          <a:prstGeom prst="roundRect">
            <a:avLst>
              <a:gd name="adj" fmla="val 5000"/>
            </a:avLst>
          </a:prstGeom>
          <a:solidFill>
            <a:srgbClr val="00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92240" y="6062472"/>
            <a:ext cx="13167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session_start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900416" y="6035040"/>
            <a:ext cx="1389888" cy="301752"/>
          </a:xfrm>
          <a:prstGeom prst="roundRect">
            <a:avLst>
              <a:gd name="adj" fmla="val 5000"/>
            </a:avLst>
          </a:prstGeom>
          <a:solidFill>
            <a:srgbClr val="00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36992" y="6062472"/>
            <a:ext cx="13167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session_end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345168" y="6035040"/>
            <a:ext cx="1389888" cy="301752"/>
          </a:xfrm>
          <a:prstGeom prst="roundRect">
            <a:avLst>
              <a:gd name="adj" fmla="val 5000"/>
            </a:avLst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81744" y="6062472"/>
            <a:ext cx="13167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escalation_hook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789920" y="6035040"/>
            <a:ext cx="1389888" cy="301752"/>
          </a:xfrm>
          <a:prstGeom prst="roundRect">
            <a:avLst>
              <a:gd name="adj" fmla="val 5000"/>
            </a:avLst>
          </a:prstGeom>
          <a:solidFill>
            <a:srgbClr val="B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826496" y="6062472"/>
            <a:ext cx="13167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compliance_alert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End-to-End Data Flow — Single Policy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E5FF"/>
                </a:solidFill>
              </a:rPr>
              <a:t>Question: 'What documents are needed for a loan?'  |  9 steps from input to screen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1298448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6888" y="1344168"/>
            <a:ext cx="329184" cy="32918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" y="136245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37160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Employee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92807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Types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84831" y="1298448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003366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30551" y="1344168"/>
            <a:ext cx="329184" cy="32918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39" y="136245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137160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app.py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1892807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Calls orchestrator.answer()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298448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00823C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23359" y="1344168"/>
            <a:ext cx="329184" cy="32918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36245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37160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pre_query_hook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791" y="1892807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Validates &amp; logs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0448" y="1298448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00823C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16168" y="1344168"/>
            <a:ext cx="329184" cy="32918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34456" y="136245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137160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QueryClassifier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1892807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intent = policy_query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54112" y="1298448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0A1946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99832" y="1344168"/>
            <a:ext cx="329184" cy="32918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136245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137160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27264" y="1892807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Routes: single domain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1298448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6400A0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92640" y="1344168"/>
            <a:ext cx="329184" cy="32918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0928" y="136245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137160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search_skill
.search_policy()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1892807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Scores KEYWORD_MAP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1168" y="3218688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46888" y="3264408"/>
            <a:ext cx="329184" cy="32918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" y="328269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329184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PolicySearch
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3813048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format_answer()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84831" y="3218688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006E6E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130551" y="3264408"/>
            <a:ext cx="329184" cy="32918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48839" y="328269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96312" y="329184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AuditLogger
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57984" y="3813048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log_query()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77639" y="3218688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003366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023359" y="3264408"/>
            <a:ext cx="329184" cy="329184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41648" y="328269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329184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app.py UI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50791" y="3813048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Render result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29968" y="1847088"/>
            <a:ext cx="54863" cy="0"/>
          </a:xfrm>
          <a:prstGeom prst="line">
            <a:avLst/>
          </a:prstGeom>
          <a:ln w="2286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913631" y="1847088"/>
            <a:ext cx="64008" cy="0"/>
          </a:xfrm>
          <a:prstGeom prst="line">
            <a:avLst/>
          </a:prstGeom>
          <a:ln w="2286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806440" y="1847088"/>
            <a:ext cx="64008" cy="0"/>
          </a:xfrm>
          <a:prstGeom prst="line">
            <a:avLst/>
          </a:prstGeom>
          <a:ln w="2286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699248" y="1847088"/>
            <a:ext cx="54864" cy="0"/>
          </a:xfrm>
          <a:prstGeom prst="line">
            <a:avLst/>
          </a:prstGeom>
          <a:ln w="2286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82912" y="1847088"/>
            <a:ext cx="64008" cy="0"/>
          </a:xfrm>
          <a:prstGeom prst="line">
            <a:avLst/>
          </a:prstGeom>
          <a:ln w="2286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561320" y="1847088"/>
            <a:ext cx="0" cy="1152144"/>
          </a:xfrm>
          <a:prstGeom prst="line">
            <a:avLst/>
          </a:prstGeom>
          <a:ln w="2286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2029968" y="2999232"/>
            <a:ext cx="8531352" cy="0"/>
          </a:xfrm>
          <a:prstGeom prst="line">
            <a:avLst/>
          </a:prstGeom>
          <a:ln w="2286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029968" y="2999232"/>
            <a:ext cx="0" cy="219455"/>
          </a:xfrm>
          <a:prstGeom prst="line">
            <a:avLst/>
          </a:prstGeom>
          <a:ln w="2286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29968" y="3767328"/>
            <a:ext cx="54863" cy="0"/>
          </a:xfrm>
          <a:prstGeom prst="line">
            <a:avLst/>
          </a:prstGeom>
          <a:ln w="2286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913631" y="3767328"/>
            <a:ext cx="64008" cy="0"/>
          </a:xfrm>
          <a:prstGeom prst="line">
            <a:avLst/>
          </a:prstGeom>
          <a:ln w="2286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207008" y="162763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87878"/>
                </a:solidFill>
              </a:rPr>
              <a:t>question str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90672" y="162763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87878"/>
                </a:solidFill>
              </a:rPr>
              <a:t>question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83480" y="162763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87878"/>
                </a:solidFill>
              </a:rPr>
              <a:t>{valid, q}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67144" y="162763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87878"/>
                </a:solidFill>
              </a:rPr>
              <a:t>{intent}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50808" y="162763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87878"/>
                </a:solidFill>
              </a:rPr>
              <a:t>question + policies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287121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87878"/>
                </a:solidFill>
              </a:rPr>
              <a:t>{matched_key, snippet, score}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90672" y="35661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87878"/>
                </a:solidFill>
              </a:rPr>
              <a:t>{answer, found}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83480" y="35661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87878"/>
                </a:solidFill>
              </a:rPr>
              <a:t>{logged}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84080" y="3072384"/>
            <a:ext cx="2286000" cy="3566160"/>
          </a:xfrm>
          <a:prstGeom prst="rect">
            <a:avLst/>
          </a:prstGeom>
          <a:solidFill>
            <a:srgbClr val="C8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57232" y="312724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E6E"/>
                </a:solidFill>
              </a:rPr>
              <a:t>🪝  Hooks Also Fire: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857232" y="3520440"/>
            <a:ext cx="210312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02952" y="3557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0000"/>
                </a:solidFill>
              </a:rPr>
              <a:t>compliance_alert_hook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2952" y="384962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23232"/>
                </a:solidFill>
              </a:rPr>
              <a:t>AuditLogger risk=True → alert str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57232" y="4334256"/>
            <a:ext cx="210312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02952" y="43708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5000"/>
                </a:solidFill>
              </a:rPr>
              <a:t>escalation_hook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02952" y="466344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23232"/>
                </a:solidFill>
              </a:rPr>
              <a:t>found=False AND NOT escalated → log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857232" y="5148072"/>
            <a:ext cx="210312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902952" y="5184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6CC"/>
                </a:solidFill>
              </a:rPr>
              <a:t>post_answer_hook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02952" y="547725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23232"/>
                </a:solidFill>
              </a:rPr>
              <a:t>Response time + outcome → session log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01168" y="4572000"/>
            <a:ext cx="9326880" cy="1097280"/>
          </a:xfrm>
          <a:prstGeom prst="roundRect">
            <a:avLst>
              <a:gd name="adj" fmla="val 5000"/>
            </a:avLst>
          </a:prstGeom>
          <a:solidFill>
            <a:srgbClr val="CCE5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460857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66"/>
                </a:solidFill>
              </a:rPr>
              <a:t>✅  Result delivered to app.py → UI renders: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0040" y="4974336"/>
            <a:ext cx="1792224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4904" y="500176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3366"/>
                </a:solidFill>
              </a:rPr>
              <a:t>📚 Loan Policy (LP-001)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4904" y="523951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87878"/>
                </a:solidFill>
              </a:rPr>
              <a:t>policy badge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185416" y="4974336"/>
            <a:ext cx="1792224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240280" y="500176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3366"/>
                </a:solidFill>
              </a:rPr>
              <a:t>🤖 PolicySearchAgent | policy_query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40280" y="523951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87878"/>
                </a:solidFill>
              </a:rPr>
              <a:t>agent chip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050791" y="4974336"/>
            <a:ext cx="1792224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05655" y="500176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3366"/>
                </a:solidFill>
              </a:rPr>
              <a:t>📝 Verbatim answer text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05655" y="523951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87878"/>
                </a:solidFill>
              </a:rPr>
              <a:t>green bot bubble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916168" y="4974336"/>
            <a:ext cx="1792224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971031" y="500176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3366"/>
                </a:solidFill>
              </a:rPr>
              <a:t>🔒 No compliance alert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71031" y="523951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87878"/>
                </a:solidFill>
              </a:rPr>
              <a:t>risk=False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781544" y="4974336"/>
            <a:ext cx="1792224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36408" y="500176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3366"/>
                </a:solidFill>
              </a:rPr>
              <a:t>📋 Audit logged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36408" y="523951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87878"/>
                </a:solidFill>
              </a:rPr>
              <a:t>query_audit.log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Skills × Agents Usage Matrix  +  Hook Lifecycle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E5FF"/>
                </a:solidFill>
              </a:rPr>
              <a:t>Which agent calls which skill  |  When each hook fires in 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1704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</a:rPr>
              <a:t>Skills × Agents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1517904"/>
            <a:ext cx="667512" cy="411480"/>
          </a:xfrm>
          <a:prstGeom prst="roundRect">
            <a:avLst>
              <a:gd name="adj" fmla="val 5000"/>
            </a:avLst>
          </a:prstGeom>
          <a:solidFill>
            <a:srgbClr val="00823C"/>
          </a:solidFill>
          <a:ln w="127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1536192"/>
            <a:ext cx="630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QCAgent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13432" y="1517904"/>
            <a:ext cx="667512" cy="411480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 w="127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536192"/>
            <a:ext cx="630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PSAgent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26664" y="1517904"/>
            <a:ext cx="667512" cy="411480"/>
          </a:xfrm>
          <a:prstGeom prst="roundRect">
            <a:avLst>
              <a:gd name="adj" fmla="val 5000"/>
            </a:avLst>
          </a:prstGeom>
          <a:solidFill>
            <a:srgbClr val="6400A0"/>
          </a:solidFill>
          <a:ln w="127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536192"/>
            <a:ext cx="630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MPAgent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9896" y="1517904"/>
            <a:ext cx="667512" cy="411480"/>
          </a:xfrm>
          <a:prstGeom prst="roundRect">
            <a:avLst>
              <a:gd name="adj" fmla="val 5000"/>
            </a:avLst>
          </a:prstGeom>
          <a:solidFill>
            <a:srgbClr val="6400A0"/>
          </a:solidFill>
          <a:ln w="127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3" y="1536192"/>
            <a:ext cx="630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SummAgent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1517904"/>
            <a:ext cx="667512" cy="411480"/>
          </a:xfrm>
          <a:prstGeom prst="roundRect">
            <a:avLst>
              <a:gd name="adj" fmla="val 5000"/>
            </a:avLst>
          </a:prstGeom>
          <a:solidFill>
            <a:srgbClr val="B40000"/>
          </a:solidFill>
          <a:ln w="127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1536192"/>
            <a:ext cx="630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EscAgent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1517904"/>
            <a:ext cx="667512" cy="411480"/>
          </a:xfrm>
          <a:prstGeom prst="roundRect">
            <a:avLst>
              <a:gd name="adj" fmla="val 5000"/>
            </a:avLst>
          </a:prstGeom>
          <a:solidFill>
            <a:srgbClr val="B45000"/>
          </a:solidFill>
          <a:ln w="127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536192"/>
            <a:ext cx="630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FbackAgent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9592" y="1517904"/>
            <a:ext cx="667512" cy="411480"/>
          </a:xfrm>
          <a:prstGeom prst="roundRect">
            <a:avLst>
              <a:gd name="adj" fmla="val 5000"/>
            </a:avLst>
          </a:prstGeom>
          <a:solidFill>
            <a:srgbClr val="006E6E"/>
          </a:solidFill>
          <a:ln w="127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79" y="1536192"/>
            <a:ext cx="630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ALogAgent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" y="1975104"/>
            <a:ext cx="1353312" cy="310896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" y="1993392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23232"/>
                </a:solidFill>
              </a:rPr>
              <a:t>search_skill
.search_policy()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00200" y="197510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13432" y="197510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13432" y="2011680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26664" y="197510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6400A0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6664" y="2011680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39896" y="197510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9896" y="2011680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400A0"/>
                </a:solidFill>
              </a:rPr>
              <a:t>✓*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53128" y="197510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B40000"/>
          </a:solidFill>
          <a:ln w="63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128" y="2011680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66360" y="197510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879592" y="197510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01168" y="2322576"/>
            <a:ext cx="1353312" cy="310896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" y="234086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23232"/>
                </a:solidFill>
              </a:rPr>
              <a:t>search_skill
.extract_keywords()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00200" y="232257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00823C"/>
          </a:solidFill>
          <a:ln w="63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200" y="2359152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13432" y="232257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026664" y="232257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739896" y="232257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453128" y="232257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166360" y="232257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879592" y="232257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01168" y="2670048"/>
            <a:ext cx="1353312" cy="310896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9456" y="268833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23232"/>
                </a:solidFill>
              </a:rPr>
              <a:t>search_skill
.cross_reference()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00200" y="2670048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313432" y="2670048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026664" y="2670048"/>
            <a:ext cx="667512" cy="310896"/>
          </a:xfrm>
          <a:prstGeom prst="roundRect">
            <a:avLst>
              <a:gd name="adj" fmla="val 5000"/>
            </a:avLst>
          </a:prstGeom>
          <a:solidFill>
            <a:srgbClr val="6400A0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2706624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39896" y="2670048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453128" y="2670048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166360" y="2670048"/>
            <a:ext cx="667512" cy="310896"/>
          </a:xfrm>
          <a:prstGeom prst="roundRect">
            <a:avLst>
              <a:gd name="adj" fmla="val 5000"/>
            </a:avLst>
          </a:prstGeom>
          <a:solidFill>
            <a:srgbClr val="B45000"/>
          </a:solidFill>
          <a:ln w="63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66360" y="2706624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79592" y="2670048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01168" y="3017520"/>
            <a:ext cx="1353312" cy="310896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9456" y="3035808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23232"/>
                </a:solidFill>
              </a:rPr>
              <a:t>format_skill
.format_answer()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600200" y="3017520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313432" y="3017520"/>
            <a:ext cx="667512" cy="310896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13432" y="3054096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26664" y="3017520"/>
            <a:ext cx="667512" cy="310896"/>
          </a:xfrm>
          <a:prstGeom prst="roundRect">
            <a:avLst>
              <a:gd name="adj" fmla="val 5000"/>
            </a:avLst>
          </a:prstGeom>
          <a:solidFill>
            <a:srgbClr val="6400A0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26664" y="3054096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739896" y="3017520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453128" y="3017520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166360" y="3017520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879592" y="3017520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01168" y="3364992"/>
            <a:ext cx="1353312" cy="310896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9456" y="3383280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23232"/>
                </a:solidFill>
              </a:rPr>
              <a:t>format_skill
.summarize_policy()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600200" y="3364992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2313432" y="3364992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026664" y="3364992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739896" y="3364992"/>
            <a:ext cx="667512" cy="310896"/>
          </a:xfrm>
          <a:prstGeom prst="roundRect">
            <a:avLst>
              <a:gd name="adj" fmla="val 5000"/>
            </a:avLst>
          </a:prstGeom>
          <a:solidFill>
            <a:srgbClr val="6400A0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39896" y="3401568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53128" y="3364992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166360" y="3364992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879592" y="3364992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01168" y="3712464"/>
            <a:ext cx="1353312" cy="310896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19456" y="3730752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23232"/>
                </a:solidFill>
              </a:rPr>
              <a:t>format_skill
generate_email()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600200" y="371246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2313432" y="371246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3026664" y="371246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739896" y="371246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4453128" y="371246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B40000"/>
          </a:solidFill>
          <a:ln w="63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53128" y="3749040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166360" y="371246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879592" y="371246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201168" y="4059936"/>
            <a:ext cx="1353312" cy="310896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19456" y="407822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23232"/>
                </a:solidFill>
              </a:rPr>
              <a:t>format_skill
POLICY_DISPLAY_NAMES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600200" y="405993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2313432" y="405993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313432" y="4096512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026664" y="405993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6400A0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026664" y="4096512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739896" y="405993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6400A0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739896" y="4096512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453128" y="405993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B40000"/>
          </a:solidFill>
          <a:ln w="63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53128" y="4096512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166360" y="405993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B45000"/>
          </a:solidFill>
          <a:ln w="63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166360" y="4096512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879592" y="405993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201168" y="4407408"/>
            <a:ext cx="1353312" cy="310896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19456" y="442569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23232"/>
                </a:solidFill>
              </a:rPr>
              <a:t>audit_skill
.log_query()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600200" y="4407408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2313432" y="4407408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3026664" y="4407408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3739896" y="4407408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453128" y="4407408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5166360" y="4407408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5879592" y="4407408"/>
            <a:ext cx="667512" cy="310896"/>
          </a:xfrm>
          <a:prstGeom prst="roundRect">
            <a:avLst>
              <a:gd name="adj" fmla="val 5000"/>
            </a:avLst>
          </a:prstGeom>
          <a:solidFill>
            <a:srgbClr val="006E6E"/>
          </a:solidFill>
          <a:ln w="635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879592" y="4443984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01168" y="4754880"/>
            <a:ext cx="1353312" cy="310896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9456" y="4773168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23232"/>
                </a:solidFill>
              </a:rPr>
              <a:t>audit_skill
.log_unresolved()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600200" y="4754880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2313432" y="4754880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3026664" y="4754880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3739896" y="4754880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4453128" y="4754880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5166360" y="4754880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5879592" y="4754880"/>
            <a:ext cx="667512" cy="310896"/>
          </a:xfrm>
          <a:prstGeom prst="roundRect">
            <a:avLst>
              <a:gd name="adj" fmla="val 5000"/>
            </a:avLst>
          </a:prstGeom>
          <a:solidFill>
            <a:srgbClr val="006E6E"/>
          </a:solidFill>
          <a:ln w="635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879592" y="4791456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01168" y="5102352"/>
            <a:ext cx="1353312" cy="310896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19456" y="5120640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23232"/>
                </a:solidFill>
              </a:rPr>
              <a:t>audit_skill
.log_session_event()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600200" y="5102352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2313432" y="5102352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3026664" y="5102352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3739896" y="5102352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4453128" y="5102352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5166360" y="5102352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5879592" y="5102352"/>
            <a:ext cx="667512" cy="310896"/>
          </a:xfrm>
          <a:prstGeom prst="roundRect">
            <a:avLst>
              <a:gd name="adj" fmla="val 5000"/>
            </a:avLst>
          </a:prstGeom>
          <a:solidFill>
            <a:srgbClr val="006E6E"/>
          </a:solidFill>
          <a:ln w="635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879592" y="5138928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01168" y="5449824"/>
            <a:ext cx="1353312" cy="310896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19456" y="5468112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23232"/>
                </a:solidFill>
              </a:rPr>
              <a:t>audit_skill
.detect_risk()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600200" y="544982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2313432" y="544982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3026664" y="544982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3739896" y="544982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4453128" y="544982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5166360" y="544982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5879592" y="5449824"/>
            <a:ext cx="667512" cy="310896"/>
          </a:xfrm>
          <a:prstGeom prst="roundRect">
            <a:avLst>
              <a:gd name="adj" fmla="val 5000"/>
            </a:avLst>
          </a:prstGeom>
          <a:solidFill>
            <a:srgbClr val="006E6E"/>
          </a:solidFill>
          <a:ln w="635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879592" y="5486400"/>
            <a:ext cx="667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201168" y="5797296"/>
            <a:ext cx="1353312" cy="310896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19456" y="5815583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23232"/>
                </a:solidFill>
              </a:rPr>
              <a:t>audit_skill
.read_audit_log()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600200" y="579729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2313432" y="579729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026664" y="579729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3739896" y="579729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640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4453128" y="579729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5166360" y="579729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5879592" y="5797296"/>
            <a:ext cx="6675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0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01168" y="619048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87878"/>
                </a:solidFill>
              </a:rPr>
              <a:t>* SummaryAgent uses search_policy() only as fallback (when no POLICY_NAME_HINT matches)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74320" y="1170432"/>
            <a:ext cx="11640312" cy="13716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400800" y="1170432"/>
            <a:ext cx="27432" cy="557784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492240" y="1170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</a:rPr>
              <a:t>Hook Lifecycle — When Each Hook Fires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565392" y="1572768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620255" y="1618488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① Employee types question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552944" y="1984248"/>
            <a:ext cx="36576" cy="10972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6565392" y="2093976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620255" y="2139696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② app.py calls orchestrator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52944" y="2505456"/>
            <a:ext cx="36576" cy="10972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6565392" y="2615184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620255" y="2660903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③ Pipeline step: pre validation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552944" y="3026664"/>
            <a:ext cx="36576" cy="10972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6565392" y="3136391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620255" y="3182111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④ QueryClassifierAgent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52944" y="3547872"/>
            <a:ext cx="36576" cy="10972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6565392" y="3657600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620255" y="3703320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⑤ SubAgent executes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52944" y="4069080"/>
            <a:ext cx="36576" cy="10972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6565392" y="4178807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620255" y="4224527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⑥ AuditLoggerAgent runs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52944" y="4590288"/>
            <a:ext cx="36576" cy="10972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6565392" y="4700016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620255" y="4745736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⑦ Compliance / Escalation check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552944" y="5111496"/>
            <a:ext cx="36576" cy="10972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6565392" y="5221224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620255" y="5266944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⑧ post answer logging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7552944" y="5632704"/>
            <a:ext cx="36576" cy="10972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6565392" y="5742431"/>
            <a:ext cx="2011680" cy="411480"/>
          </a:xfrm>
          <a:prstGeom prst="roundRect">
            <a:avLst>
              <a:gd name="adj" fmla="val 5000"/>
            </a:avLst>
          </a:prstGeom>
          <a:solidFill>
            <a:srgbClr val="EBEB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620255" y="5788151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⑨ Result → UI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9144000" y="2615184"/>
            <a:ext cx="288036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198864" y="263347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6CC"/>
                </a:solidFill>
              </a:rPr>
              <a:t>pre_query_hook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198864" y="2852928"/>
            <a:ext cx="2770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87878"/>
                </a:solidFill>
              </a:rPr>
              <a:t>valid=True/False → { valid, question }</a:t>
            </a:r>
          </a:p>
        </p:txBody>
      </p:sp>
      <p:cxnSp>
        <p:nvCxnSpPr>
          <p:cNvPr id="182" name="Connector 181"/>
          <p:cNvCxnSpPr/>
          <p:nvPr/>
        </p:nvCxnSpPr>
        <p:spPr>
          <a:xfrm flipH="1">
            <a:off x="8577072" y="2816352"/>
            <a:ext cx="566928" cy="0"/>
          </a:xfrm>
          <a:prstGeom prst="line">
            <a:avLst/>
          </a:prstGeom>
          <a:ln w="22860">
            <a:solidFill>
              <a:srgbClr val="0066CC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ounded Rectangle 182"/>
          <p:cNvSpPr/>
          <p:nvPr/>
        </p:nvSpPr>
        <p:spPr>
          <a:xfrm>
            <a:off x="9144000" y="2093976"/>
            <a:ext cx="288036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198864" y="21122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23C"/>
                </a:solidFill>
              </a:rPr>
              <a:t>session_start_hook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198864" y="2331720"/>
            <a:ext cx="2770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87878"/>
                </a:solidFill>
              </a:rPr>
              <a:t>Once: OrchestratorAgent.__init__()</a:t>
            </a:r>
          </a:p>
        </p:txBody>
      </p:sp>
      <p:cxnSp>
        <p:nvCxnSpPr>
          <p:cNvPr id="186" name="Connector 185"/>
          <p:cNvCxnSpPr/>
          <p:nvPr/>
        </p:nvCxnSpPr>
        <p:spPr>
          <a:xfrm flipH="1">
            <a:off x="8577072" y="2295144"/>
            <a:ext cx="566928" cy="0"/>
          </a:xfrm>
          <a:prstGeom prst="line">
            <a:avLst/>
          </a:prstGeom>
          <a:ln w="22860">
            <a:solidFill>
              <a:srgbClr val="00823C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ounded Rectangle 186"/>
          <p:cNvSpPr/>
          <p:nvPr/>
        </p:nvSpPr>
        <p:spPr>
          <a:xfrm>
            <a:off x="9144000" y="4178807"/>
            <a:ext cx="288036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198864" y="419709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0000"/>
                </a:solidFill>
              </a:rPr>
              <a:t>compliance_alert_hook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198864" y="4416551"/>
            <a:ext cx="2770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87878"/>
                </a:solidFill>
              </a:rPr>
              <a:t>IF detect_compliance_risk() = True</a:t>
            </a:r>
          </a:p>
        </p:txBody>
      </p:sp>
      <p:cxnSp>
        <p:nvCxnSpPr>
          <p:cNvPr id="190" name="Connector 189"/>
          <p:cNvCxnSpPr/>
          <p:nvPr/>
        </p:nvCxnSpPr>
        <p:spPr>
          <a:xfrm flipH="1">
            <a:off x="8577072" y="4379975"/>
            <a:ext cx="566928" cy="0"/>
          </a:xfrm>
          <a:prstGeom prst="line">
            <a:avLst/>
          </a:prstGeom>
          <a:ln w="22860">
            <a:solidFill>
              <a:srgbClr val="B40000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Rounded Rectangle 190"/>
          <p:cNvSpPr/>
          <p:nvPr/>
        </p:nvSpPr>
        <p:spPr>
          <a:xfrm>
            <a:off x="9144000" y="4700016"/>
            <a:ext cx="288036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198864" y="4718303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5000"/>
                </a:solidFill>
              </a:rPr>
              <a:t>escalation_hook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198864" y="4937759"/>
            <a:ext cx="2770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87878"/>
                </a:solidFill>
              </a:rPr>
              <a:t>IF found=False AND escalated=False</a:t>
            </a:r>
          </a:p>
        </p:txBody>
      </p:sp>
      <p:cxnSp>
        <p:nvCxnSpPr>
          <p:cNvPr id="194" name="Connector 193"/>
          <p:cNvCxnSpPr/>
          <p:nvPr/>
        </p:nvCxnSpPr>
        <p:spPr>
          <a:xfrm flipH="1">
            <a:off x="8577072" y="4901183"/>
            <a:ext cx="566928" cy="0"/>
          </a:xfrm>
          <a:prstGeom prst="line">
            <a:avLst/>
          </a:prstGeom>
          <a:ln w="22860">
            <a:solidFill>
              <a:srgbClr val="B45000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ounded Rectangle 194"/>
          <p:cNvSpPr/>
          <p:nvPr/>
        </p:nvSpPr>
        <p:spPr>
          <a:xfrm>
            <a:off x="9144000" y="5221224"/>
            <a:ext cx="288036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198864" y="523951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6CC"/>
                </a:solidFill>
              </a:rPr>
              <a:t>post_answer_hook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9198864" y="5458968"/>
            <a:ext cx="2770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87878"/>
                </a:solidFill>
              </a:rPr>
              <a:t>Every query — logs timing + outcome</a:t>
            </a:r>
          </a:p>
        </p:txBody>
      </p:sp>
      <p:cxnSp>
        <p:nvCxnSpPr>
          <p:cNvPr id="198" name="Connector 197"/>
          <p:cNvCxnSpPr/>
          <p:nvPr/>
        </p:nvCxnSpPr>
        <p:spPr>
          <a:xfrm flipH="1">
            <a:off x="8577072" y="5422392"/>
            <a:ext cx="566928" cy="0"/>
          </a:xfrm>
          <a:prstGeom prst="line">
            <a:avLst/>
          </a:prstGeom>
          <a:ln w="22860">
            <a:solidFill>
              <a:srgbClr val="0066CC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ounded Rectangle 198"/>
          <p:cNvSpPr/>
          <p:nvPr/>
        </p:nvSpPr>
        <p:spPr>
          <a:xfrm>
            <a:off x="9144000" y="5742431"/>
            <a:ext cx="288036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9198864" y="5760719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23C"/>
                </a:solidFill>
              </a:rPr>
              <a:t>session_end_hook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198864" y="5980175"/>
            <a:ext cx="2770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87878"/>
                </a:solidFill>
              </a:rPr>
              <a:t>Employee clicks Clear Chat</a:t>
            </a:r>
          </a:p>
        </p:txBody>
      </p:sp>
      <p:cxnSp>
        <p:nvCxnSpPr>
          <p:cNvPr id="202" name="Connector 201"/>
          <p:cNvCxnSpPr/>
          <p:nvPr/>
        </p:nvCxnSpPr>
        <p:spPr>
          <a:xfrm flipH="1">
            <a:off x="8577072" y="5943599"/>
            <a:ext cx="566928" cy="0"/>
          </a:xfrm>
          <a:prstGeom prst="line">
            <a:avLst/>
          </a:prstGeom>
          <a:ln w="22860">
            <a:solidFill>
              <a:srgbClr val="00823C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Self-Healing Workflow — FallbackAgent Auto-Chain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E5FF"/>
                </a:solidFill>
              </a:rPr>
              <a:t>Question: 'What is the HR leave policy?'  |  PolicySearchAgent fails → Orchestrator auto-invokes FallbackAgent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1170432"/>
            <a:ext cx="11786616" cy="457200"/>
          </a:xfrm>
          <a:prstGeom prst="roundRect">
            <a:avLst>
              <a:gd name="adj" fmla="val 5000"/>
            </a:avLst>
          </a:prstGeom>
          <a:solidFill>
            <a:srgbClr val="FFF3C8"/>
          </a:solidFill>
          <a:ln w="25400">
            <a:solidFill>
              <a:srgbClr val="C8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67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45000"/>
                </a:solidFill>
              </a:rPr>
              <a:t>⚠️  Key Concept: Self-healing is invisible to the employee. PolicySearchAgent returning found=False is the ONLY trigger. EscalationAgent is NOT part of this chain — it is a separate agent for explicit 'escalate' intent.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1828800"/>
            <a:ext cx="2194560" cy="1719072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032" y="1883664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901952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01952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Employee
Types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450592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HR leave policy for
annual leave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1828800"/>
            <a:ext cx="2194560" cy="1719072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60904" y="1883664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1901952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1901952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pre_query_hook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450592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Length &gt; 3 ✓
Logs INCOMING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0912" y="1828800"/>
            <a:ext cx="2194560" cy="1719072"/>
          </a:xfrm>
          <a:prstGeom prst="roundRect">
            <a:avLst>
              <a:gd name="adj" fmla="val 5000"/>
            </a:avLst>
          </a:prstGeom>
          <a:solidFill>
            <a:srgbClr val="00823C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1883664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1901952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1901952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QueryClassifier
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2450592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No summary/escalation
triggers → policy_query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1828800"/>
            <a:ext cx="2194560" cy="1719072"/>
          </a:xfrm>
          <a:prstGeom prst="roundRect">
            <a:avLst>
              <a:gd name="adj" fmla="val 5000"/>
            </a:avLst>
          </a:prstGeom>
          <a:solidFill>
            <a:srgbClr val="0A1946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79792" y="1883664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1901952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7" y="1901952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Orchestrator
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7" y="2450592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cross_reference all 5
policies → all score=0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1828800"/>
            <a:ext cx="2194560" cy="1719072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84664" y="1883664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02952" y="1901952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1901952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PolicySearch
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450592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KEYWORD_MAP search
→ score=0 all 5 → found=False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1168" y="3749039"/>
            <a:ext cx="2194560" cy="1719072"/>
          </a:xfrm>
          <a:prstGeom prst="roundRect">
            <a:avLst>
              <a:gd name="adj" fmla="val 5000"/>
            </a:avLst>
          </a:prstGeom>
          <a:solidFill>
            <a:srgbClr val="0A1946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56032" y="3803903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822191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822191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Orchestrator
Self-Heal Trigger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" y="4370831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Detects found=False
→ auto-invokes FallbackAgent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06040" y="3749039"/>
            <a:ext cx="2194560" cy="1719072"/>
          </a:xfrm>
          <a:prstGeom prst="roundRect">
            <a:avLst>
              <a:gd name="adj" fmla="val 5000"/>
            </a:avLst>
          </a:prstGeom>
          <a:solidFill>
            <a:srgbClr val="B45000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660904" y="3803903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79192" y="3822191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3240" y="3822191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FallbackAgent
(SubAgent 6)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4370831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cross_reference at
score&gt;0 → also 0 → no partial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10912" y="3749039"/>
            <a:ext cx="2194560" cy="1719072"/>
          </a:xfrm>
          <a:prstGeom prst="roundRect">
            <a:avLst>
              <a:gd name="adj" fmla="val 5000"/>
            </a:avLst>
          </a:prstGeom>
          <a:solidFill>
            <a:srgbClr val="B40000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65776" y="3803903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84064" y="3822191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68112" y="3822191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escalation_hook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02352" y="4370831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found=False AND
escalated=False → FIRES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24927" y="3749039"/>
            <a:ext cx="2194560" cy="1719072"/>
          </a:xfrm>
          <a:prstGeom prst="roundRect">
            <a:avLst>
              <a:gd name="adj" fmla="val 5000"/>
            </a:avLst>
          </a:prstGeom>
          <a:solidFill>
            <a:srgbClr val="006E6E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479792" y="3803903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79" y="3822191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2127" y="3822191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AuditLogger
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6367" y="4370831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query_audit.log:
STATUS=FALLBACK
unresolved_queries.log: logged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829800" y="3749039"/>
            <a:ext cx="2194560" cy="1719072"/>
          </a:xfrm>
          <a:prstGeom prst="roundRect">
            <a:avLst>
              <a:gd name="adj" fmla="val 5000"/>
            </a:avLst>
          </a:prstGeom>
          <a:solidFill>
            <a:srgbClr val="003366"/>
          </a:solidFill>
          <a:ln w="25400"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884664" y="3803903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solidFill>
              <a:srgbClr val="0A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02952" y="3822191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946"/>
                </a:solidFill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87000" y="3822191"/>
            <a:ext cx="16824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app.py UI
Renders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1240" y="4370831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5FF"/>
                </a:solidFill>
              </a:rPr>
              <a:t>Amber bubble
FallbackAgent chip
Contact details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395728" y="2688336"/>
            <a:ext cx="210312" cy="0"/>
          </a:xfrm>
          <a:prstGeom prst="line">
            <a:avLst/>
          </a:prstGeom>
          <a:ln w="2540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00600" y="2688336"/>
            <a:ext cx="210312" cy="0"/>
          </a:xfrm>
          <a:prstGeom prst="line">
            <a:avLst/>
          </a:prstGeom>
          <a:ln w="2540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205472" y="2688336"/>
            <a:ext cx="219455" cy="0"/>
          </a:xfrm>
          <a:prstGeom prst="line">
            <a:avLst/>
          </a:prstGeom>
          <a:ln w="2540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619488" y="2688336"/>
            <a:ext cx="210312" cy="0"/>
          </a:xfrm>
          <a:prstGeom prst="line">
            <a:avLst/>
          </a:prstGeom>
          <a:ln w="2540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972800" y="2688336"/>
            <a:ext cx="0" cy="804672"/>
          </a:xfrm>
          <a:prstGeom prst="line">
            <a:avLst/>
          </a:prstGeom>
          <a:ln w="31750">
            <a:solidFill>
              <a:srgbClr val="B45000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2395728" y="3493008"/>
            <a:ext cx="8577072" cy="0"/>
          </a:xfrm>
          <a:prstGeom prst="line">
            <a:avLst/>
          </a:prstGeom>
          <a:ln w="31750">
            <a:solidFill>
              <a:srgbClr val="B45000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395728" y="3493008"/>
            <a:ext cx="0" cy="256031"/>
          </a:xfrm>
          <a:prstGeom prst="line">
            <a:avLst/>
          </a:prstGeom>
          <a:ln w="31750">
            <a:solidFill>
              <a:srgbClr val="B45000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029200" y="32735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45000"/>
                </a:solidFill>
              </a:rPr>
              <a:t>found=False → SELF-HEAL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395728" y="4608575"/>
            <a:ext cx="210312" cy="0"/>
          </a:xfrm>
          <a:prstGeom prst="line">
            <a:avLst/>
          </a:prstGeom>
          <a:ln w="2540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800600" y="4608575"/>
            <a:ext cx="210312" cy="0"/>
          </a:xfrm>
          <a:prstGeom prst="line">
            <a:avLst/>
          </a:prstGeom>
          <a:ln w="2540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205472" y="4608575"/>
            <a:ext cx="219455" cy="0"/>
          </a:xfrm>
          <a:prstGeom prst="line">
            <a:avLst/>
          </a:prstGeom>
          <a:ln w="2540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619488" y="4608575"/>
            <a:ext cx="210312" cy="0"/>
          </a:xfrm>
          <a:prstGeom prst="line">
            <a:avLst/>
          </a:prstGeom>
          <a:ln w="25400">
            <a:solidFill>
              <a:srgbClr val="78787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201168" y="5669280"/>
            <a:ext cx="11786616" cy="1005840"/>
          </a:xfrm>
          <a:prstGeom prst="roundRect">
            <a:avLst>
              <a:gd name="adj" fmla="val 5000"/>
            </a:avLst>
          </a:prstGeom>
          <a:solidFill>
            <a:srgbClr val="FFF3C8"/>
          </a:solidFill>
          <a:ln w="2540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7472" y="568756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45000"/>
                </a:solidFill>
              </a:rPr>
              <a:t>👁  What the Employee Sees: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7472" y="599846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• Amber warning bubble (not green)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36976" y="599846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• FallbackAgent chip shown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0" y="599846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• Contact details: compliance@bank.internal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15984" y="599846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232"/>
                </a:solidFill>
              </a:rPr>
              <a:t>• No 'PolicySearchAgent failed' message — invisible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